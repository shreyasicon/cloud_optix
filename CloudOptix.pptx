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4"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Poppins Light" panose="00000400000000000000" pitchFamily="2" charset="0"/>
      <p:regular r:id="rId14"/>
    </p:embeddedFont>
    <p:embeddedFont>
      <p:font typeface="Roboto" panose="02000000000000000000" pitchFamily="2" charset="0"/>
      <p:regular r:id="rId15"/>
      <p:bold r:id="rId16"/>
      <p:italic r:id="rId17"/>
    </p:embeddedFont>
    <p:embeddedFont>
      <p:font typeface="Roboto Light" panose="02000000000000000000" pitchFamily="2" charset="0"/>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172" autoAdjust="0"/>
  </p:normalViewPr>
  <p:slideViewPr>
    <p:cSldViewPr snapToGrid="0" snapToObjects="1">
      <p:cViewPr varScale="1">
        <p:scale>
          <a:sx n="55" d="100"/>
          <a:sy n="55" d="100"/>
        </p:scale>
        <p:origin x="1291"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7872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a:t>
            </a:r>
            <a:r>
              <a:rPr lang="en-US" b="1" dirty="0" err="1"/>
              <a:t>CloudOptix</a:t>
            </a:r>
            <a:r>
              <a:rPr lang="en-US" dirty="0"/>
              <a:t>. In the world of multi-cloud infrastructure, routing is often a 'black box'—it’s either static or ignores the real-time health of the network. We’ve built a solution that moves beyond simple distance-based rules. By treating data center selection as a dynamic, supervised machine learning problem, we’ve created an end-to-end pipeline that optimizes connections in real-time.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cloud routing is broken because it’s static—it assumes the closest data center is always the best, but proximity does not equal performance. </a:t>
            </a:r>
            <a:r>
              <a:rPr lang="en-US" b="1" dirty="0" err="1"/>
              <a:t>CloudOptix</a:t>
            </a:r>
            <a:r>
              <a:rPr lang="en-US" dirty="0"/>
              <a:t> fixes this by treating routing as a dynamic machine learning problem. We analyze distance, server load, and bandwidth simultaneously to identify the true 'Mathematical Winner' for every request. By comparing AWS, Azure, and GCP in milliseconds, we ensure users always take the healthiest path, reducing latency by up to 45%.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this matters, look at industry leaders. For companies like Netflix or YouTube, routing to the lowest-congestion node is the difference between seamless streaming and buffering. In FinTech, even a few milliseconds of latency can break high-frequency trading strategies. </a:t>
            </a:r>
            <a:r>
              <a:rPr lang="en-US" dirty="0" err="1"/>
              <a:t>CloudOptix</a:t>
            </a:r>
            <a:r>
              <a:rPr lang="en-US" dirty="0"/>
              <a:t> provides the resilience needed for global SaaS platforms to automatically shift traffic during outages, ensuring 100% uptime.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relies on a 50,000-row dataset, blending external Mendeley data with synthetic observations tailored to global population hotspots. We go beyond simple distance by integrating network load, packet loss, and effective bandwidth as core predictors. Finally, our 10-step automated cleaning pipeline ensures data integrity from IQR-based outlier detection to cross-column logic audits—guaranteeing that our model remains robust and reproducible in a production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transitioned from simple linear baselines to advanced ensembles to capture complex network patterns. While our basic models provided a starting point, refinements like </a:t>
            </a:r>
            <a:r>
              <a:rPr lang="en-US" b="1" dirty="0" err="1"/>
              <a:t>CatBoost</a:t>
            </a:r>
            <a:r>
              <a:rPr lang="en-US" dirty="0"/>
              <a:t> and </a:t>
            </a:r>
            <a:r>
              <a:rPr lang="en-US" b="1" dirty="0" err="1"/>
              <a:t>LightGBM</a:t>
            </a:r>
            <a:r>
              <a:rPr lang="en-US" dirty="0"/>
              <a:t> were specifically tuned for high-speed, sub-10ms cloud serving. </a:t>
            </a:r>
            <a:r>
              <a:rPr lang="en-US" b="1" dirty="0" err="1"/>
              <a:t>XGBoost</a:t>
            </a:r>
            <a:r>
              <a:rPr lang="en-US" dirty="0"/>
              <a:t> emerged as our winner with 91.3% accuracy, proving that non-linear models are essential for clustering these geographic regions. Finally, all models are serialized via </a:t>
            </a:r>
            <a:r>
              <a:rPr lang="en-US" dirty="0" err="1"/>
              <a:t>joblib</a:t>
            </a:r>
            <a:r>
              <a:rPr lang="en-US" dirty="0"/>
              <a:t>, ensuring they are ready for real-time, on-demand prediction in our production environment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a:t>
            </a:r>
            <a:r>
              <a:rPr lang="en-US" b="1" dirty="0" err="1"/>
              <a:t>CloudOptix</a:t>
            </a:r>
            <a:r>
              <a:rPr lang="en-US" dirty="0"/>
              <a:t> in action. Using our Infrastructure Optimizer, we can simulate a user in Ireland experiencing high network load. In less than 5 milliseconds, the model identifies that </a:t>
            </a:r>
            <a:r>
              <a:rPr lang="en-US" b="1" dirty="0"/>
              <a:t>AWS EU West 1</a:t>
            </a:r>
            <a:r>
              <a:rPr lang="en-US" dirty="0"/>
              <a:t> is the mathematical winner, despite the congestion. By bypassing sub-optimal routes, we achieve a </a:t>
            </a:r>
            <a:r>
              <a:rPr lang="en-US" b="1" dirty="0"/>
              <a:t>45% latency reduction</a:t>
            </a:r>
            <a:r>
              <a:rPr lang="en-US" dirty="0"/>
              <a:t>, dropping response times from 245ms to just 135ms. This proves that our ensemble approach doesn’t just pick a data center; it picks the healthiest path for every single request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our production architecture is built for extreme scale, moving from data collection to a live React frontend. We use an AWS-based pipeline where models are serialized to S3 and served via </a:t>
            </a:r>
            <a:r>
              <a:rPr lang="en-US" dirty="0" err="1"/>
              <a:t>FastAPI</a:t>
            </a:r>
            <a:r>
              <a:rPr lang="en-US" dirty="0"/>
              <a:t> on Lambda, achieving a blistering </a:t>
            </a:r>
            <a:r>
              <a:rPr lang="en-US" b="1" dirty="0"/>
              <a:t>3.4ms minimum inference time</a:t>
            </a:r>
            <a:r>
              <a:rPr lang="en-US" dirty="0"/>
              <a:t>. With a total decision window of just </a:t>
            </a:r>
            <a:r>
              <a:rPr lang="en-US" b="1" dirty="0"/>
              <a:t>5ms</a:t>
            </a:r>
            <a:r>
              <a:rPr lang="en-US" dirty="0"/>
              <a:t>, </a:t>
            </a:r>
            <a:r>
              <a:rPr lang="en-US" dirty="0" err="1"/>
              <a:t>CloudOptix</a:t>
            </a:r>
            <a:r>
              <a:rPr lang="en-US" dirty="0"/>
              <a:t> meets the rigorous demands of real-time routing. Our learning curves confirm model stability after just 20,000 rows, ensuring that this isn't just a prototype, but a scalable, cloud-deployed solution ready for global traffic.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critical part of our tuning was addressing the </a:t>
            </a:r>
            <a:r>
              <a:rPr lang="en-US" b="1" dirty="0"/>
              <a:t>Border-Zone Challenge</a:t>
            </a:r>
            <a:r>
              <a:rPr lang="en-US" dirty="0"/>
              <a:t>, specifically the Dublin-Amsterdam Paradox. Because these regions are geographically close, their health metrics often overlap, causing the most confusion for the model. We found that in these cases, routing scores narrow to </a:t>
            </a:r>
            <a:r>
              <a:rPr lang="en-US" b="1" dirty="0"/>
              <a:t>less than 5%</a:t>
            </a:r>
            <a:r>
              <a:rPr lang="en-US" dirty="0"/>
              <a:t>, identifying the physical limit of predictive routing and guiding where we need higher-resolution provider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we plan to evolve </a:t>
            </a:r>
            <a:r>
              <a:rPr lang="en-US" dirty="0" err="1"/>
              <a:t>CloudOptix</a:t>
            </a:r>
            <a:r>
              <a:rPr lang="en-US" dirty="0"/>
              <a:t> into an autonomous system by implementing </a:t>
            </a:r>
            <a:r>
              <a:rPr lang="en-US" b="1" dirty="0"/>
              <a:t>Online Learning</a:t>
            </a:r>
            <a:r>
              <a:rPr lang="en-US" dirty="0"/>
              <a:t> for continuous environment interaction. We also aim to integrate </a:t>
            </a:r>
            <a:r>
              <a:rPr lang="en-US" b="1" dirty="0"/>
              <a:t>Cost Signals</a:t>
            </a:r>
            <a:r>
              <a:rPr lang="en-US" dirty="0"/>
              <a:t> to optimize for egress fees alongside performance. Ultimately, we’ve built a robust, production-ready foundation for truly intelligent multi-cloud efficiency.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deployment uses a </a:t>
            </a:r>
            <a:r>
              <a:rPr lang="en-US" dirty="0" err="1"/>
              <a:t>FastAPI</a:t>
            </a:r>
            <a:r>
              <a:rPr lang="en-US" dirty="0"/>
              <a:t> backend and React frontend to serve real-time predictions. We measured success across three paradigms: performance, scalability, and latency. While </a:t>
            </a:r>
            <a:r>
              <a:rPr lang="en-US" dirty="0" err="1"/>
              <a:t>XGBoost</a:t>
            </a:r>
            <a:r>
              <a:rPr lang="en-US" dirty="0"/>
              <a:t> hit the highest accuracy at 91.3%, </a:t>
            </a:r>
            <a:r>
              <a:rPr lang="en-US" dirty="0" err="1"/>
              <a:t>LightGBM</a:t>
            </a:r>
            <a:r>
              <a:rPr lang="en-US" dirty="0"/>
              <a:t> is our efficiency champion—delivering 75% accuracy with a blistering 0.18ms inference time. This balance ensures </a:t>
            </a:r>
            <a:r>
              <a:rPr lang="en-US" dirty="0" err="1"/>
              <a:t>CloudOptix</a:t>
            </a:r>
            <a:r>
              <a:rPr lang="en-US" dirty="0"/>
              <a:t> remains both highly accurate and fast enough for production-scale routing.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primary limitation is the semi-synthetic nature of our data, which lacks 'wild' network noise. Future steps will involve testing against real-world telemetry like iperf3 to validate these boundaries under jitter. In conclusion, </a:t>
            </a:r>
            <a:r>
              <a:rPr lang="en-US" dirty="0" err="1"/>
              <a:t>CloudOptix</a:t>
            </a:r>
            <a:r>
              <a:rPr lang="en-US" dirty="0"/>
              <a:t> proves that while geography is the anchor, feature engineering is the intelligence that makes optimal multi-cloud routing possible.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746734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9042060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31962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7370305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5015039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0532516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244348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7639642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546990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090483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5844332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687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81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2641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36561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7576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595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418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0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2231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532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smtClean="0"/>
              <a:t>4/13/2026</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98033728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main.d1cgcih5yi54e9.amplifyapp.com/"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44260" y="755809"/>
            <a:ext cx="7655481" cy="1328976"/>
          </a:xfrm>
          <a:prstGeom prst="rect">
            <a:avLst/>
          </a:prstGeom>
          <a:noFill/>
          <a:ln/>
        </p:spPr>
        <p:txBody>
          <a:bodyPr wrap="square" lIns="0" tIns="0" rIns="0" bIns="0" rtlCol="0" anchor="t"/>
          <a:lstStyle/>
          <a:p>
            <a:pPr marL="0" indent="0" algn="l">
              <a:lnSpc>
                <a:spcPts val="5200"/>
              </a:lnSpc>
              <a:buNone/>
            </a:pPr>
            <a:r>
              <a:rPr lang="en-US" sz="4150" b="1" dirty="0">
                <a:solidFill>
                  <a:srgbClr val="F2F2F3"/>
                </a:solidFill>
                <a:latin typeface="Roboto" panose="02000000000000000000" pitchFamily="2" charset="0"/>
                <a:ea typeface="Roboto" panose="02000000000000000000" pitchFamily="2" charset="0"/>
                <a:cs typeface="Roboto" panose="02000000000000000000" pitchFamily="2" charset="0"/>
              </a:rPr>
              <a:t>CloudOptix</a:t>
            </a:r>
            <a:r>
              <a:rPr lang="en-US" sz="4150" dirty="0">
                <a:solidFill>
                  <a:srgbClr val="F2F2F3"/>
                </a:solidFill>
                <a:latin typeface="Roboto" panose="02000000000000000000" pitchFamily="2" charset="0"/>
                <a:ea typeface="Roboto" panose="02000000000000000000" pitchFamily="2" charset="0"/>
                <a:cs typeface="Roboto" panose="02000000000000000000" pitchFamily="2" charset="0"/>
              </a:rPr>
              <a:t> - UR Intelligent Multi Cloud Routing</a:t>
            </a:r>
            <a:endParaRPr lang="en-US" sz="4150" dirty="0">
              <a:latin typeface="Roboto" panose="02000000000000000000" pitchFamily="2" charset="0"/>
              <a:ea typeface="Roboto" panose="02000000000000000000" pitchFamily="2" charset="0"/>
              <a:cs typeface="Roboto" panose="02000000000000000000" pitchFamily="2" charset="0"/>
            </a:endParaRPr>
          </a:p>
        </p:txBody>
      </p:sp>
      <p:sp>
        <p:nvSpPr>
          <p:cNvPr id="4" name="Text 1"/>
          <p:cNvSpPr/>
          <p:nvPr/>
        </p:nvSpPr>
        <p:spPr>
          <a:xfrm>
            <a:off x="744260" y="2164437"/>
            <a:ext cx="6048613" cy="398621"/>
          </a:xfrm>
          <a:prstGeom prst="rect">
            <a:avLst/>
          </a:prstGeom>
          <a:noFill/>
          <a:ln/>
        </p:spPr>
        <p:txBody>
          <a:bodyPr wrap="none" lIns="0" tIns="0" rIns="0" bIns="0" rtlCol="0" anchor="t"/>
          <a:lstStyle/>
          <a:p>
            <a:pPr marL="0" indent="0" algn="l">
              <a:lnSpc>
                <a:spcPts val="3100"/>
              </a:lnSpc>
              <a:buNone/>
            </a:pPr>
            <a:r>
              <a:rPr lang="en-US" sz="2500" b="1" dirty="0">
                <a:solidFill>
                  <a:srgbClr val="F2F2F3"/>
                </a:solidFill>
                <a:latin typeface="Roboto" panose="02000000000000000000" pitchFamily="2" charset="0"/>
                <a:ea typeface="Roboto" panose="02000000000000000000" pitchFamily="2" charset="0"/>
                <a:cs typeface="Roboto" panose="02000000000000000000" pitchFamily="2" charset="0"/>
              </a:rPr>
              <a:t>Predict. Optimize. Smarter Decisions.</a:t>
            </a:r>
            <a:endParaRPr lang="en-US" sz="2500" dirty="0">
              <a:latin typeface="Roboto" panose="02000000000000000000" pitchFamily="2" charset="0"/>
              <a:ea typeface="Roboto" panose="02000000000000000000" pitchFamily="2" charset="0"/>
              <a:cs typeface="Roboto" panose="02000000000000000000" pitchFamily="2" charset="0"/>
            </a:endParaRPr>
          </a:p>
        </p:txBody>
      </p:sp>
      <p:sp>
        <p:nvSpPr>
          <p:cNvPr id="5" name="Text 2"/>
          <p:cNvSpPr/>
          <p:nvPr/>
        </p:nvSpPr>
        <p:spPr>
          <a:xfrm>
            <a:off x="744260" y="2862024"/>
            <a:ext cx="7655481" cy="824151"/>
          </a:xfrm>
          <a:prstGeom prst="rect">
            <a:avLst/>
          </a:prstGeom>
          <a:noFill/>
          <a:ln/>
        </p:spPr>
        <p:txBody>
          <a:bodyPr wrap="square" lIns="0" tIns="0" rIns="0" bIns="0" rtlCol="0" anchor="t"/>
          <a:lstStyle/>
          <a:p>
            <a:pPr marL="0" indent="0" algn="l">
              <a:lnSpc>
                <a:spcPts val="3200"/>
              </a:lnSpc>
              <a:buNone/>
            </a:pP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From </a:t>
            </a:r>
            <a:r>
              <a:rPr lang="en-US" sz="2050" b="1" dirty="0">
                <a:solidFill>
                  <a:srgbClr val="E5E0DF"/>
                </a:solidFill>
                <a:latin typeface="Roboto" panose="02000000000000000000" pitchFamily="2" charset="0"/>
                <a:ea typeface="Roboto" panose="02000000000000000000" pitchFamily="2" charset="0"/>
                <a:cs typeface="Roboto" panose="02000000000000000000" pitchFamily="2" charset="0"/>
              </a:rPr>
              <a:t>"Closest Data Center"</a:t>
            </a: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 to </a:t>
            </a:r>
            <a:r>
              <a:rPr lang="en-US" sz="2050" b="1" dirty="0">
                <a:solidFill>
                  <a:srgbClr val="E5E0DF"/>
                </a:solidFill>
                <a:latin typeface="Roboto" panose="02000000000000000000" pitchFamily="2" charset="0"/>
                <a:ea typeface="Roboto" panose="02000000000000000000" pitchFamily="2" charset="0"/>
                <a:cs typeface="Roboto" panose="02000000000000000000" pitchFamily="2" charset="0"/>
              </a:rPr>
              <a:t>"Best Data Center": </a:t>
            </a: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A Cloud Native Machine Learning Approach to Optimal Data Center Selection</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6" name="Text 3"/>
          <p:cNvSpPr/>
          <p:nvPr/>
        </p:nvSpPr>
        <p:spPr>
          <a:xfrm>
            <a:off x="744260" y="4200525"/>
            <a:ext cx="7655481" cy="412075"/>
          </a:xfrm>
          <a:prstGeom prst="rect">
            <a:avLst/>
          </a:prstGeom>
          <a:noFill/>
          <a:ln/>
        </p:spPr>
        <p:txBody>
          <a:bodyPr wrap="none" lIns="0" tIns="0" rIns="0" bIns="0" rtlCol="0" anchor="t"/>
          <a:lstStyle/>
          <a:p>
            <a:pPr marL="0" indent="0" algn="l">
              <a:lnSpc>
                <a:spcPts val="3200"/>
              </a:lnSpc>
              <a:buNone/>
            </a:pPr>
            <a:r>
              <a:rPr lang="en-US" sz="2050" b="1" dirty="0">
                <a:solidFill>
                  <a:srgbClr val="E5E0DF"/>
                </a:solidFill>
                <a:latin typeface="Roboto" panose="02000000000000000000" pitchFamily="2" charset="0"/>
                <a:ea typeface="Roboto" panose="02000000000000000000" pitchFamily="2" charset="0"/>
                <a:cs typeface="Roboto" panose="02000000000000000000" pitchFamily="2" charset="0"/>
              </a:rPr>
              <a:t>Sai Shreyas Gubbi Harish</a:t>
            </a: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 x24194956</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7" name="Text 4"/>
          <p:cNvSpPr/>
          <p:nvPr/>
        </p:nvSpPr>
        <p:spPr>
          <a:xfrm>
            <a:off x="744260" y="4836795"/>
            <a:ext cx="7655481" cy="412075"/>
          </a:xfrm>
          <a:prstGeom prst="rect">
            <a:avLst/>
          </a:prstGeom>
          <a:noFill/>
          <a:ln/>
        </p:spPr>
        <p:txBody>
          <a:bodyPr wrap="none" lIns="0" tIns="0" rIns="0" bIns="0" rtlCol="0" anchor="t"/>
          <a:lstStyle/>
          <a:p>
            <a:pPr marL="0" indent="0" algn="l">
              <a:lnSpc>
                <a:spcPts val="3200"/>
              </a:lnSpc>
              <a:buNone/>
            </a:pPr>
            <a:r>
              <a:rPr lang="en-US" sz="2050" b="1" dirty="0">
                <a:solidFill>
                  <a:srgbClr val="E5E0DF"/>
                </a:solidFill>
                <a:latin typeface="Roboto" panose="02000000000000000000" pitchFamily="2" charset="0"/>
                <a:ea typeface="Roboto" panose="02000000000000000000" pitchFamily="2" charset="0"/>
                <a:cs typeface="Roboto" panose="02000000000000000000" pitchFamily="2" charset="0"/>
              </a:rPr>
              <a:t>Mohammed Hussain x</a:t>
            </a: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24253189</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8" name="Text 5"/>
          <p:cNvSpPr/>
          <p:nvPr/>
        </p:nvSpPr>
        <p:spPr>
          <a:xfrm>
            <a:off x="744260" y="5473065"/>
            <a:ext cx="7655481" cy="412075"/>
          </a:xfrm>
          <a:prstGeom prst="rect">
            <a:avLst/>
          </a:prstGeom>
          <a:noFill/>
          <a:ln/>
        </p:spPr>
        <p:txBody>
          <a:bodyPr wrap="none" lIns="0" tIns="0" rIns="0" bIns="0" rtlCol="0" anchor="t"/>
          <a:lstStyle/>
          <a:p>
            <a:pPr marL="0" indent="0" algn="l">
              <a:lnSpc>
                <a:spcPts val="3200"/>
              </a:lnSpc>
              <a:buNone/>
            </a:pPr>
            <a:r>
              <a:rPr lang="en-US" sz="2050" b="1" dirty="0">
                <a:solidFill>
                  <a:srgbClr val="E5E0DF"/>
                </a:solidFill>
                <a:latin typeface="Roboto" panose="02000000000000000000" pitchFamily="2" charset="0"/>
                <a:ea typeface="Roboto" panose="02000000000000000000" pitchFamily="2" charset="0"/>
                <a:cs typeface="Roboto" panose="02000000000000000000" pitchFamily="2" charset="0"/>
              </a:rPr>
              <a:t>Gulam Gouse Shahnawaz Khan x</a:t>
            </a: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24268178</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9" name="Text 6"/>
          <p:cNvSpPr/>
          <p:nvPr/>
        </p:nvSpPr>
        <p:spPr>
          <a:xfrm>
            <a:off x="744260" y="6109335"/>
            <a:ext cx="7655481" cy="412075"/>
          </a:xfrm>
          <a:prstGeom prst="rect">
            <a:avLst/>
          </a:prstGeom>
          <a:noFill/>
          <a:ln/>
        </p:spPr>
        <p:txBody>
          <a:bodyPr wrap="none" lIns="0" tIns="0" rIns="0" bIns="0" rtlCol="0" anchor="t"/>
          <a:lstStyle/>
          <a:p>
            <a:pPr marL="0" indent="0" algn="l">
              <a:lnSpc>
                <a:spcPts val="3200"/>
              </a:lnSpc>
              <a:buNone/>
            </a:pPr>
            <a:r>
              <a:rPr lang="en-US" sz="2050" b="1" dirty="0">
                <a:solidFill>
                  <a:srgbClr val="E5E0DF"/>
                </a:solidFill>
                <a:latin typeface="Roboto" panose="02000000000000000000" pitchFamily="2" charset="0"/>
                <a:ea typeface="Roboto" panose="02000000000000000000" pitchFamily="2" charset="0"/>
                <a:cs typeface="Roboto" panose="02000000000000000000" pitchFamily="2" charset="0"/>
              </a:rPr>
              <a:t>Wasiullah Khan</a:t>
            </a:r>
            <a:r>
              <a:rPr lang="en-US" sz="2050" dirty="0">
                <a:solidFill>
                  <a:srgbClr val="E5E0DF"/>
                </a:solidFill>
                <a:latin typeface="Roboto" panose="02000000000000000000" pitchFamily="2" charset="0"/>
                <a:ea typeface="Roboto" panose="02000000000000000000" pitchFamily="2" charset="0"/>
                <a:cs typeface="Roboto" panose="02000000000000000000" pitchFamily="2" charset="0"/>
              </a:rPr>
              <a:t> x24217760</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10" name="Text 7"/>
          <p:cNvSpPr/>
          <p:nvPr/>
        </p:nvSpPr>
        <p:spPr>
          <a:xfrm>
            <a:off x="744260" y="7021541"/>
            <a:ext cx="3187660" cy="332303"/>
          </a:xfrm>
          <a:prstGeom prst="rect">
            <a:avLst/>
          </a:prstGeom>
          <a:noFill/>
          <a:ln/>
        </p:spPr>
        <p:txBody>
          <a:bodyPr wrap="none" lIns="0" tIns="0" rIns="0" bIns="0" rtlCol="0" anchor="t"/>
          <a:lstStyle/>
          <a:p>
            <a:pPr marL="0" indent="0" algn="l">
              <a:lnSpc>
                <a:spcPts val="2600"/>
              </a:lnSpc>
              <a:buNone/>
            </a:pPr>
            <a:r>
              <a:rPr lang="en-US" sz="2050" dirty="0">
                <a:solidFill>
                  <a:srgbClr val="F2F2F3"/>
                </a:solidFill>
                <a:latin typeface="Roboto" panose="02000000000000000000" pitchFamily="2" charset="0"/>
                <a:ea typeface="Roboto" panose="02000000000000000000" pitchFamily="2" charset="0"/>
                <a:cs typeface="Roboto" panose="02000000000000000000" pitchFamily="2" charset="0"/>
              </a:rPr>
              <a:t>Cloud Machine Learning</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11" name="Text 8"/>
          <p:cNvSpPr/>
          <p:nvPr/>
        </p:nvSpPr>
        <p:spPr>
          <a:xfrm>
            <a:off x="744260" y="7473791"/>
            <a:ext cx="5582126" cy="531614"/>
          </a:xfrm>
          <a:prstGeom prst="rect">
            <a:avLst/>
          </a:prstGeom>
          <a:noFill/>
          <a:ln/>
        </p:spPr>
        <p:txBody>
          <a:bodyPr wrap="none" lIns="0" tIns="0" rIns="0" bIns="0" rtlCol="0" anchor="t"/>
          <a:lstStyle/>
          <a:p>
            <a:pPr marL="0" indent="0" algn="l">
              <a:lnSpc>
                <a:spcPts val="4150"/>
              </a:lnSpc>
              <a:buNone/>
            </a:pPr>
            <a:r>
              <a:rPr lang="en-US" sz="3300" dirty="0">
                <a:solidFill>
                  <a:srgbClr val="F2F2F3"/>
                </a:solidFill>
                <a:latin typeface="Roboto" panose="02000000000000000000" pitchFamily="2" charset="0"/>
                <a:ea typeface="Roboto" panose="02000000000000000000" pitchFamily="2" charset="0"/>
                <a:cs typeface="Roboto" panose="02000000000000000000" pitchFamily="2" charset="0"/>
              </a:rPr>
              <a:t>National College of Ireland</a:t>
            </a:r>
            <a:endParaRPr lang="en-US" sz="3300" dirty="0">
              <a:latin typeface="Roboto" panose="02000000000000000000" pitchFamily="2" charset="0"/>
              <a:ea typeface="Roboto" panose="02000000000000000000" pitchFamily="2" charset="0"/>
              <a:cs typeface="Roboto" panose="02000000000000000000" pitchFamily="2" charset="0"/>
            </a:endParaRPr>
          </a:p>
        </p:txBody>
      </p:sp>
      <p:pic>
        <p:nvPicPr>
          <p:cNvPr id="13" name="Picture 12">
            <a:extLst>
              <a:ext uri="{FF2B5EF4-FFF2-40B4-BE49-F238E27FC236}">
                <a16:creationId xmlns:a16="http://schemas.microsoft.com/office/drawing/2014/main" id="{74231EE2-4DD4-3362-4582-9BCBD4E42C90}"/>
              </a:ext>
            </a:extLst>
          </p:cNvPr>
          <p:cNvPicPr>
            <a:picLocks noChangeAspect="1"/>
          </p:cNvPicPr>
          <p:nvPr/>
        </p:nvPicPr>
        <p:blipFill>
          <a:blip r:embed="rId3"/>
          <a:stretch>
            <a:fillRect/>
          </a:stretch>
        </p:blipFill>
        <p:spPr>
          <a:xfrm>
            <a:off x="8458200" y="0"/>
            <a:ext cx="61722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7105" y="385049"/>
            <a:ext cx="3513787" cy="283997"/>
          </a:xfrm>
          <a:prstGeom prst="rect">
            <a:avLst/>
          </a:prstGeom>
          <a:noFill/>
          <a:ln/>
        </p:spPr>
        <p:txBody>
          <a:bodyPr wrap="none" lIns="0" tIns="0" rIns="0" bIns="0" rtlCol="0" anchor="t"/>
          <a:lstStyle/>
          <a:p>
            <a:pPr marL="0" indent="0" algn="l">
              <a:buNone/>
            </a:pPr>
            <a:r>
              <a:rPr lang="en-US" sz="3600" dirty="0">
                <a:solidFill>
                  <a:srgbClr val="F2F2F3"/>
                </a:solidFill>
                <a:latin typeface="Roboto" panose="02000000000000000000" pitchFamily="2" charset="0"/>
                <a:ea typeface="Roboto" panose="02000000000000000000" pitchFamily="2" charset="0"/>
                <a:cs typeface="Roboto" panose="02000000000000000000" pitchFamily="2" charset="0"/>
              </a:rPr>
              <a:t>WHY CloudOptix?</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3" name="Text 1"/>
          <p:cNvSpPr/>
          <p:nvPr/>
        </p:nvSpPr>
        <p:spPr>
          <a:xfrm>
            <a:off x="657105" y="1026796"/>
            <a:ext cx="1905000" cy="411360"/>
          </a:xfrm>
          <a:prstGeom prst="rect">
            <a:avLst/>
          </a:prstGeom>
          <a:noFill/>
          <a:ln/>
        </p:spPr>
        <p:txBody>
          <a:bodyPr wrap="none" lIns="0" tIns="0" rIns="0" bIns="0" rtlCol="0" anchor="t"/>
          <a:lstStyle/>
          <a:p>
            <a:pPr marL="0" indent="0" algn="l">
              <a:buNone/>
            </a:pPr>
            <a:r>
              <a:rPr lang="en-US" sz="2400" dirty="0">
                <a:solidFill>
                  <a:srgbClr val="F2F2F3"/>
                </a:solidFill>
                <a:latin typeface="Roboto" panose="02000000000000000000" pitchFamily="2" charset="0"/>
                <a:ea typeface="Roboto" panose="02000000000000000000" pitchFamily="2" charset="0"/>
                <a:cs typeface="Roboto" panose="02000000000000000000" pitchFamily="2" charset="0"/>
              </a:rPr>
              <a:t>The Problem</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4" name="Text 2"/>
          <p:cNvSpPr/>
          <p:nvPr/>
        </p:nvSpPr>
        <p:spPr>
          <a:xfrm>
            <a:off x="672344" y="1427798"/>
            <a:ext cx="9698047" cy="115848"/>
          </a:xfrm>
          <a:prstGeom prst="rect">
            <a:avLst/>
          </a:prstGeom>
          <a:noFill/>
          <a:ln/>
        </p:spPr>
        <p:txBody>
          <a:bodyPr wrap="none" lIns="0" tIns="0" rIns="0" bIns="0" rtlCol="0" anchor="t"/>
          <a:lstStyle/>
          <a:p>
            <a:pPr marL="0" indent="0" algn="l">
              <a:buNone/>
            </a:pP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Most cloud routing is static or ignores </a:t>
            </a:r>
            <a:r>
              <a:rPr lang="en-US" sz="2800" dirty="0">
                <a:solidFill>
                  <a:srgbClr val="E5E0DF"/>
                </a:solidFill>
                <a:latin typeface="Roboto" panose="02000000000000000000" pitchFamily="2" charset="0"/>
                <a:ea typeface="Roboto" panose="02000000000000000000" pitchFamily="2" charset="0"/>
                <a:cs typeface="Roboto" panose="02000000000000000000" pitchFamily="2" charset="0"/>
              </a:rPr>
              <a:t>real-time</a:t>
            </a: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 network health.</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5" name="Shape 3"/>
          <p:cNvSpPr/>
          <p:nvPr/>
        </p:nvSpPr>
        <p:spPr>
          <a:xfrm>
            <a:off x="584362" y="1852661"/>
            <a:ext cx="8292668" cy="1268016"/>
          </a:xfrm>
          <a:prstGeom prst="roundRect">
            <a:avLst>
              <a:gd name="adj" fmla="val 6817"/>
            </a:avLst>
          </a:prstGeom>
          <a:solidFill>
            <a:srgbClr val="050505"/>
          </a:solidFill>
          <a:ln w="15240">
            <a:solidFill>
              <a:srgbClr val="56565B"/>
            </a:solidFill>
            <a:prstDash val="solid"/>
          </a:ln>
        </p:spPr>
      </p:sp>
      <p:sp>
        <p:nvSpPr>
          <p:cNvPr id="6" name="Shape 4"/>
          <p:cNvSpPr/>
          <p:nvPr/>
        </p:nvSpPr>
        <p:spPr>
          <a:xfrm>
            <a:off x="591636" y="1872147"/>
            <a:ext cx="45719" cy="1248530"/>
          </a:xfrm>
          <a:prstGeom prst="roundRect">
            <a:avLst>
              <a:gd name="adj" fmla="val 92791"/>
            </a:avLst>
          </a:prstGeom>
          <a:solidFill>
            <a:srgbClr val="F2F2F3"/>
          </a:solidFill>
          <a:ln/>
        </p:spPr>
      </p:sp>
      <p:sp>
        <p:nvSpPr>
          <p:cNvPr id="7" name="Text 5"/>
          <p:cNvSpPr/>
          <p:nvPr/>
        </p:nvSpPr>
        <p:spPr>
          <a:xfrm>
            <a:off x="823973" y="1988814"/>
            <a:ext cx="3337098" cy="141958"/>
          </a:xfrm>
          <a:prstGeom prst="rect">
            <a:avLst/>
          </a:prstGeom>
          <a:noFill/>
          <a:ln/>
        </p:spPr>
        <p:txBody>
          <a:bodyPr wrap="none" lIns="0" tIns="0" rIns="0" bIns="0" rtlCol="0" anchor="t"/>
          <a:lstStyle/>
          <a:p>
            <a:pPr marL="0" indent="0" algn="l">
              <a:buNone/>
            </a:pP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Distance is Constant: Networks Are Not</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Text 6"/>
          <p:cNvSpPr/>
          <p:nvPr/>
        </p:nvSpPr>
        <p:spPr>
          <a:xfrm>
            <a:off x="823972" y="2260807"/>
            <a:ext cx="6290700" cy="760176"/>
          </a:xfrm>
          <a:prstGeom prst="rect">
            <a:avLst/>
          </a:prstGeom>
          <a:noFill/>
          <a:ln/>
        </p:spPr>
        <p:txBody>
          <a:bodyPr wrap="square" lIns="0" tIns="0" rIns="0" bIns="0" rtlCol="0" anchor="t"/>
          <a:lstStyle/>
          <a:p>
            <a:pPr marL="0" indent="0" algn="l">
              <a:buNone/>
            </a:pP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Standard routing optimizes for geography alone. A "close" data center can be congested, overloaded or experiencing packet loss. Proximity ≠ performance.</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9" name="Shape 7"/>
          <p:cNvSpPr/>
          <p:nvPr/>
        </p:nvSpPr>
        <p:spPr>
          <a:xfrm>
            <a:off x="7315199" y="1852661"/>
            <a:ext cx="6248343" cy="1268016"/>
          </a:xfrm>
          <a:prstGeom prst="roundRect">
            <a:avLst>
              <a:gd name="adj" fmla="val 6817"/>
            </a:avLst>
          </a:prstGeom>
          <a:solidFill>
            <a:srgbClr val="050505"/>
          </a:solidFill>
          <a:ln w="15240">
            <a:solidFill>
              <a:srgbClr val="56565B"/>
            </a:solidFill>
            <a:prstDash val="solid"/>
          </a:ln>
        </p:spPr>
      </p:sp>
      <p:sp>
        <p:nvSpPr>
          <p:cNvPr id="10" name="Shape 8"/>
          <p:cNvSpPr/>
          <p:nvPr/>
        </p:nvSpPr>
        <p:spPr>
          <a:xfrm>
            <a:off x="7315200" y="1898761"/>
            <a:ext cx="63618" cy="1221915"/>
          </a:xfrm>
          <a:prstGeom prst="roundRect">
            <a:avLst>
              <a:gd name="adj" fmla="val 92791"/>
            </a:avLst>
          </a:prstGeom>
          <a:solidFill>
            <a:srgbClr val="F2F2F3"/>
          </a:solidFill>
          <a:ln/>
        </p:spPr>
      </p:sp>
      <p:sp>
        <p:nvSpPr>
          <p:cNvPr id="11" name="Text 9"/>
          <p:cNvSpPr/>
          <p:nvPr/>
        </p:nvSpPr>
        <p:spPr>
          <a:xfrm>
            <a:off x="7519093" y="1965523"/>
            <a:ext cx="2437993" cy="141958"/>
          </a:xfrm>
          <a:prstGeom prst="rect">
            <a:avLst/>
          </a:prstGeom>
          <a:noFill/>
          <a:ln/>
        </p:spPr>
        <p:txBody>
          <a:bodyPr wrap="none" lIns="0" tIns="0" rIns="0" bIns="0" rtlCol="0" anchor="t"/>
          <a:lstStyle/>
          <a:p>
            <a:pPr marL="0" indent="0" algn="l">
              <a:buNone/>
            </a:pP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The Real Cost of Static Rules</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2" name="Text 10"/>
          <p:cNvSpPr/>
          <p:nvPr/>
        </p:nvSpPr>
        <p:spPr>
          <a:xfrm>
            <a:off x="7519093" y="2295401"/>
            <a:ext cx="5843922" cy="693986"/>
          </a:xfrm>
          <a:prstGeom prst="rect">
            <a:avLst/>
          </a:prstGeom>
          <a:noFill/>
          <a:ln/>
        </p:spPr>
        <p:txBody>
          <a:bodyPr wrap="square" lIns="0" tIns="0" rIns="0" bIns="0" rtlCol="0" anchor="t"/>
          <a:lstStyle/>
          <a:p>
            <a:pPr marL="0" indent="0" algn="l">
              <a:buNone/>
            </a:pP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During peak hours, fixed routing decisions drive up packet loss and drop throughput. The network knows it's slow but the router doesn't care.</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3" name="Text 11"/>
          <p:cNvSpPr/>
          <p:nvPr/>
        </p:nvSpPr>
        <p:spPr>
          <a:xfrm>
            <a:off x="5724405" y="3132675"/>
            <a:ext cx="1756832" cy="141958"/>
          </a:xfrm>
          <a:prstGeom prst="rect">
            <a:avLst/>
          </a:prstGeom>
          <a:noFill/>
          <a:ln/>
        </p:spPr>
        <p:txBody>
          <a:bodyPr wrap="none" lIns="0" tIns="0" rIns="0" bIns="0" rtlCol="0" anchor="t"/>
          <a:lstStyle/>
          <a:p>
            <a:pPr marL="0" indent="0" algn="l">
              <a:buNone/>
            </a:pPr>
            <a:r>
              <a:rPr lang="en-US" sz="2800" dirty="0">
                <a:solidFill>
                  <a:srgbClr val="F2F2F3"/>
                </a:solidFill>
                <a:latin typeface="Roboto" panose="02000000000000000000" pitchFamily="2" charset="0"/>
                <a:ea typeface="Roboto" panose="02000000000000000000" pitchFamily="2" charset="0"/>
                <a:cs typeface="Roboto" panose="02000000000000000000" pitchFamily="2" charset="0"/>
              </a:rPr>
              <a:t>The</a:t>
            </a:r>
            <a:r>
              <a:rPr lang="en-US" dirty="0">
                <a:solidFill>
                  <a:srgbClr val="F2F2F3"/>
                </a:solidFill>
                <a:latin typeface="Roboto" panose="02000000000000000000" pitchFamily="2" charset="0"/>
                <a:ea typeface="Roboto" panose="02000000000000000000" pitchFamily="2" charset="0"/>
                <a:cs typeface="Roboto" panose="02000000000000000000" pitchFamily="2" charset="0"/>
              </a:rPr>
              <a:t> </a:t>
            </a:r>
            <a:r>
              <a:rPr lang="en-US" sz="3200" dirty="0">
                <a:solidFill>
                  <a:srgbClr val="F2F2F3"/>
                </a:solidFill>
                <a:latin typeface="Roboto" panose="02000000000000000000" pitchFamily="2" charset="0"/>
                <a:ea typeface="Roboto" panose="02000000000000000000" pitchFamily="2" charset="0"/>
                <a:cs typeface="Roboto" panose="02000000000000000000" pitchFamily="2" charset="0"/>
              </a:rPr>
              <a:t>Solution</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4" name="Text 12"/>
          <p:cNvSpPr/>
          <p:nvPr/>
        </p:nvSpPr>
        <p:spPr>
          <a:xfrm>
            <a:off x="5724404" y="3693977"/>
            <a:ext cx="8248891" cy="448259"/>
          </a:xfrm>
          <a:prstGeom prst="rect">
            <a:avLst/>
          </a:prstGeom>
          <a:noFill/>
          <a:ln/>
        </p:spPr>
        <p:txBody>
          <a:bodyPr wrap="none" lIns="0" tIns="0" rIns="0" bIns="0" rtlCol="0" anchor="t"/>
          <a:lstStyle/>
          <a:p>
            <a:pPr marL="0" indent="0" algn="l">
              <a:buNone/>
            </a:pP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An end to end ML pipeline that treats DC selection as a </a:t>
            </a:r>
          </a:p>
          <a:p>
            <a:pPr marL="0" indent="0" algn="l">
              <a:buNone/>
            </a:pP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dynamic, supervised multi class classification problem.</a:t>
            </a:r>
            <a:endParaRPr lang="en-US" sz="2400" dirty="0">
              <a:latin typeface="Roboto" panose="02000000000000000000" pitchFamily="2" charset="0"/>
              <a:ea typeface="Roboto" panose="02000000000000000000" pitchFamily="2" charset="0"/>
              <a:cs typeface="Roboto" panose="02000000000000000000" pitchFamily="2" charset="0"/>
            </a:endParaRPr>
          </a:p>
        </p:txBody>
      </p:sp>
      <p:pic>
        <p:nvPicPr>
          <p:cNvPr id="15" name="Image 0" descr="preencoded.png"/>
          <p:cNvPicPr>
            <a:picLocks noChangeAspect="1"/>
          </p:cNvPicPr>
          <p:nvPr/>
        </p:nvPicPr>
        <p:blipFill>
          <a:blip r:embed="rId3"/>
          <a:stretch>
            <a:fillRect/>
          </a:stretch>
        </p:blipFill>
        <p:spPr>
          <a:xfrm>
            <a:off x="657105" y="3538538"/>
            <a:ext cx="4571942" cy="4353498"/>
          </a:xfrm>
          <a:prstGeom prst="rect">
            <a:avLst/>
          </a:prstGeom>
        </p:spPr>
      </p:pic>
      <p:sp>
        <p:nvSpPr>
          <p:cNvPr id="16" name="Text 13"/>
          <p:cNvSpPr/>
          <p:nvPr/>
        </p:nvSpPr>
        <p:spPr>
          <a:xfrm>
            <a:off x="12026622" y="3639484"/>
            <a:ext cx="4878348" cy="115848"/>
          </a:xfrm>
          <a:prstGeom prst="rect">
            <a:avLst/>
          </a:prstGeom>
          <a:noFill/>
          <a:ln/>
        </p:spPr>
        <p:txBody>
          <a:bodyPr wrap="none" lIns="0" tIns="0" rIns="0" bIns="0" rtlCol="0" anchor="t"/>
          <a:lstStyle/>
          <a:p>
            <a:pPr marL="0" indent="0" algn="l">
              <a:lnSpc>
                <a:spcPts val="1350"/>
              </a:lnSpc>
              <a:buNone/>
            </a:pP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17" name="Text 14"/>
          <p:cNvSpPr/>
          <p:nvPr/>
        </p:nvSpPr>
        <p:spPr>
          <a:xfrm>
            <a:off x="6791681" y="5360252"/>
            <a:ext cx="7591097" cy="377231"/>
          </a:xfrm>
          <a:prstGeom prst="rect">
            <a:avLst/>
          </a:prstGeom>
          <a:noFill/>
          <a:ln/>
        </p:spPr>
        <p:txBody>
          <a:bodyPr wrap="none" lIns="0" tIns="0" rIns="0" bIns="0" rtlCol="0" anchor="t"/>
          <a:lstStyle/>
          <a:p>
            <a:pPr marL="0" indent="0" algn="l">
              <a:buNone/>
            </a:pP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8" name="Text 15"/>
          <p:cNvSpPr/>
          <p:nvPr/>
        </p:nvSpPr>
        <p:spPr>
          <a:xfrm>
            <a:off x="6791681" y="5603853"/>
            <a:ext cx="7591097" cy="377231"/>
          </a:xfrm>
          <a:prstGeom prst="rect">
            <a:avLst/>
          </a:prstGeom>
          <a:noFill/>
          <a:ln/>
        </p:spPr>
        <p:txBody>
          <a:bodyPr wrap="none" lIns="0" tIns="0" rIns="0" bIns="0" rtlCol="0" anchor="t"/>
          <a:lstStyle/>
          <a:p>
            <a:pPr marL="0" indent="0" algn="l">
              <a:buNone/>
            </a:pP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9" name="Text 16"/>
          <p:cNvSpPr/>
          <p:nvPr/>
        </p:nvSpPr>
        <p:spPr>
          <a:xfrm>
            <a:off x="5691149" y="4785307"/>
            <a:ext cx="4571943" cy="462252"/>
          </a:xfrm>
          <a:prstGeom prst="rect">
            <a:avLst/>
          </a:prstGeom>
          <a:noFill/>
          <a:ln/>
        </p:spPr>
        <p:txBody>
          <a:bodyPr wrap="none" lIns="0" tIns="0" rIns="0" bIns="0" rtlCol="0" anchor="t"/>
          <a:lstStyle/>
          <a:p>
            <a:pPr marL="0" indent="0" algn="l">
              <a:buNone/>
            </a:pPr>
            <a:r>
              <a:rPr lang="en-US" sz="2400" dirty="0">
                <a:solidFill>
                  <a:srgbClr val="F2F2F3"/>
                </a:solidFill>
                <a:latin typeface="Roboto" panose="02000000000000000000" pitchFamily="2" charset="0"/>
                <a:ea typeface="Roboto" panose="02000000000000000000" pitchFamily="2" charset="0"/>
                <a:cs typeface="Roboto" panose="02000000000000000000" pitchFamily="2" charset="0"/>
              </a:rPr>
              <a:t>Simultaneous Multi Factor Scoring</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20" name="Text 17"/>
          <p:cNvSpPr/>
          <p:nvPr/>
        </p:nvSpPr>
        <p:spPr>
          <a:xfrm>
            <a:off x="5691148" y="5390805"/>
            <a:ext cx="7591097" cy="754462"/>
          </a:xfrm>
          <a:prstGeom prst="rect">
            <a:avLst/>
          </a:prstGeom>
          <a:noFill/>
          <a:ln/>
        </p:spPr>
        <p:txBody>
          <a:bodyPr wrap="square" lIns="0" tIns="0" rIns="0" bIns="0" rtlCol="0" anchor="t"/>
          <a:lstStyle/>
          <a:p>
            <a:pPr marL="0" indent="0" algn="l">
              <a:buNone/>
            </a:pP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CloudOptix weighs </a:t>
            </a: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distance, load and bandwidth</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simultaneously not sequentially to identify the mathematically optimal endpoint for every request.</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1" name="Text 18"/>
          <p:cNvSpPr/>
          <p:nvPr/>
        </p:nvSpPr>
        <p:spPr>
          <a:xfrm>
            <a:off x="5691149" y="6617657"/>
            <a:ext cx="2733770" cy="462252"/>
          </a:xfrm>
          <a:prstGeom prst="rect">
            <a:avLst/>
          </a:prstGeom>
          <a:noFill/>
          <a:ln/>
        </p:spPr>
        <p:txBody>
          <a:bodyPr wrap="none" lIns="0" tIns="0" rIns="0" bIns="0" rtlCol="0" anchor="t"/>
          <a:lstStyle/>
          <a:p>
            <a:pPr marL="0" indent="0" algn="l">
              <a:buNone/>
            </a:pPr>
            <a:r>
              <a:rPr lang="en-US" sz="2400" dirty="0">
                <a:solidFill>
                  <a:srgbClr val="F2F2F3"/>
                </a:solidFill>
                <a:latin typeface="Roboto" panose="02000000000000000000" pitchFamily="2" charset="0"/>
                <a:ea typeface="Roboto" panose="02000000000000000000" pitchFamily="2" charset="0"/>
                <a:cs typeface="Roboto" panose="02000000000000000000" pitchFamily="2" charset="0"/>
              </a:rPr>
              <a:t>Multi Cloud Agility</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22" name="Text 19"/>
          <p:cNvSpPr/>
          <p:nvPr/>
        </p:nvSpPr>
        <p:spPr>
          <a:xfrm>
            <a:off x="5691148" y="7086407"/>
            <a:ext cx="7591097" cy="754462"/>
          </a:xfrm>
          <a:prstGeom prst="rect">
            <a:avLst/>
          </a:prstGeom>
          <a:noFill/>
          <a:ln/>
        </p:spPr>
        <p:txBody>
          <a:bodyPr wrap="square" lIns="0" tIns="0" rIns="0" bIns="0" rtlCol="0" anchor="t"/>
          <a:lstStyle/>
          <a:p>
            <a:pPr marL="0" indent="0" algn="l">
              <a:buNone/>
            </a:pP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Seamlessly compares </a:t>
            </a: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AWS, Azure and GCP</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regions in milliseconds, selecting the healthiest path regardless of provider.</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3" name="Text 20"/>
          <p:cNvSpPr/>
          <p:nvPr/>
        </p:nvSpPr>
        <p:spPr>
          <a:xfrm>
            <a:off x="2668785" y="7664291"/>
            <a:ext cx="9698047" cy="115848"/>
          </a:xfrm>
          <a:prstGeom prst="rect">
            <a:avLst/>
          </a:prstGeom>
          <a:noFill/>
          <a:ln/>
        </p:spPr>
        <p:txBody>
          <a:bodyPr wrap="none" lIns="0" tIns="0" rIns="0" bIns="0" rtlCol="0" anchor="t"/>
          <a:lstStyle/>
          <a:p>
            <a:pPr marL="0" indent="0" algn="l">
              <a:buNone/>
            </a:pPr>
            <a:endParaRPr lang="en-US" sz="14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579569"/>
            <a:ext cx="4536519" cy="566976"/>
          </a:xfrm>
          <a:prstGeom prst="rect">
            <a:avLst/>
          </a:prstGeom>
          <a:noFill/>
          <a:ln/>
        </p:spPr>
        <p:txBody>
          <a:bodyPr wrap="none" lIns="0" tIns="0" rIns="0" bIns="0" rtlCol="0" anchor="t"/>
          <a:lstStyle/>
          <a:p>
            <a:pPr marL="0" indent="0" algn="l">
              <a:lnSpc>
                <a:spcPts val="4450"/>
              </a:lnSpc>
              <a:buNone/>
            </a:pPr>
            <a:r>
              <a:rPr lang="en-US" sz="3600" dirty="0">
                <a:solidFill>
                  <a:srgbClr val="F2F2F3"/>
                </a:solidFill>
                <a:latin typeface="Poppins Light" pitchFamily="34" charset="0"/>
                <a:ea typeface="Poppins Light" pitchFamily="34" charset="-122"/>
                <a:cs typeface="Poppins Light" pitchFamily="34" charset="-120"/>
              </a:rPr>
              <a:t>THE WHO?</a:t>
            </a:r>
            <a:endParaRPr lang="en-US" sz="3600" dirty="0"/>
          </a:p>
        </p:txBody>
      </p:sp>
      <p:sp>
        <p:nvSpPr>
          <p:cNvPr id="4" name="Text 1"/>
          <p:cNvSpPr/>
          <p:nvPr/>
        </p:nvSpPr>
        <p:spPr>
          <a:xfrm>
            <a:off x="6280190" y="1346359"/>
            <a:ext cx="7462838" cy="425291"/>
          </a:xfrm>
          <a:prstGeom prst="rect">
            <a:avLst/>
          </a:prstGeom>
          <a:noFill/>
          <a:ln/>
        </p:spPr>
        <p:txBody>
          <a:bodyPr wrap="none" lIns="0" tIns="0" rIns="0" bIns="0" rtlCol="0" anchor="t"/>
          <a:lstStyle/>
          <a:p>
            <a:pPr marL="0" indent="0" algn="l">
              <a:lnSpc>
                <a:spcPts val="3300"/>
              </a:lnSpc>
              <a:buNone/>
            </a:pPr>
            <a:r>
              <a:rPr lang="en-US" sz="2800" dirty="0">
                <a:solidFill>
                  <a:srgbClr val="F2F2F3"/>
                </a:solidFill>
                <a:latin typeface="Poppins Light" pitchFamily="34" charset="0"/>
                <a:ea typeface="Poppins Light" pitchFamily="34" charset="-122"/>
                <a:cs typeface="Poppins Light" pitchFamily="34" charset="-120"/>
              </a:rPr>
              <a:t>Beyond Pings: Real World Multi Cloud Impact</a:t>
            </a:r>
            <a:endParaRPr lang="en-US" sz="28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0190" y="2111812"/>
            <a:ext cx="566976" cy="566976"/>
          </a:xfrm>
          <a:prstGeom prst="rect">
            <a:avLst/>
          </a:prstGeom>
        </p:spPr>
      </p:pic>
      <p:sp>
        <p:nvSpPr>
          <p:cNvPr id="6" name="Text 2"/>
          <p:cNvSpPr/>
          <p:nvPr/>
        </p:nvSpPr>
        <p:spPr>
          <a:xfrm>
            <a:off x="7130653" y="2111812"/>
            <a:ext cx="4464010" cy="354330"/>
          </a:xfrm>
          <a:prstGeom prst="rect">
            <a:avLst/>
          </a:prstGeom>
          <a:noFill/>
          <a:ln/>
        </p:spPr>
        <p:txBody>
          <a:bodyPr wrap="none" lIns="0" tIns="0" rIns="0" bIns="0" rtlCol="0" anchor="t"/>
          <a:lstStyle/>
          <a:p>
            <a:pPr marL="0" indent="0" algn="l">
              <a:lnSpc>
                <a:spcPts val="2750"/>
              </a:lnSpc>
              <a:buNone/>
            </a:pPr>
            <a:r>
              <a:rPr lang="en-US" sz="2400" dirty="0">
                <a:solidFill>
                  <a:srgbClr val="E5E0DF"/>
                </a:solidFill>
                <a:latin typeface="Poppins Light" pitchFamily="34" charset="0"/>
                <a:ea typeface="Poppins Light" pitchFamily="34" charset="-122"/>
                <a:cs typeface="Poppins Light" pitchFamily="34" charset="-120"/>
              </a:rPr>
              <a:t>Entertainment (Netflix/YouTube)</a:t>
            </a:r>
            <a:endParaRPr lang="en-US" sz="2400" dirty="0"/>
          </a:p>
        </p:txBody>
      </p:sp>
      <p:sp>
        <p:nvSpPr>
          <p:cNvPr id="7" name="Text 3"/>
          <p:cNvSpPr/>
          <p:nvPr/>
        </p:nvSpPr>
        <p:spPr>
          <a:xfrm>
            <a:off x="7130653" y="2602230"/>
            <a:ext cx="6705957" cy="725805"/>
          </a:xfrm>
          <a:prstGeom prst="rect">
            <a:avLst/>
          </a:prstGeom>
          <a:noFill/>
          <a:ln/>
        </p:spPr>
        <p:txBody>
          <a:bodyPr wrap="square" lIns="0" tIns="0" rIns="0" bIns="0" rtlCol="0" anchor="t"/>
          <a:lstStyle/>
          <a:p>
            <a:pPr marL="0" indent="0" algn="l">
              <a:lnSpc>
                <a:spcPts val="2850"/>
              </a:lnSpc>
              <a:buNone/>
            </a:pPr>
            <a:r>
              <a:rPr lang="en-US" dirty="0">
                <a:solidFill>
                  <a:srgbClr val="E5E0DF"/>
                </a:solidFill>
                <a:latin typeface="Roboto Light" pitchFamily="34" charset="0"/>
                <a:ea typeface="Roboto Light" pitchFamily="34" charset="-122"/>
                <a:cs typeface="Roboto Light" pitchFamily="34" charset="-120"/>
              </a:rPr>
              <a:t>Reducing buffering by routing to the lowest congestion regional node.</a:t>
            </a:r>
            <a:endParaRPr lang="en-US"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0190" y="3781663"/>
            <a:ext cx="566976" cy="566976"/>
          </a:xfrm>
          <a:prstGeom prst="rect">
            <a:avLst/>
          </a:prstGeom>
        </p:spPr>
      </p:pic>
      <p:sp>
        <p:nvSpPr>
          <p:cNvPr id="9" name="Text 4"/>
          <p:cNvSpPr/>
          <p:nvPr/>
        </p:nvSpPr>
        <p:spPr>
          <a:xfrm>
            <a:off x="7130653" y="3781663"/>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E5E0DF"/>
                </a:solidFill>
                <a:latin typeface="Poppins Light" pitchFamily="34" charset="0"/>
                <a:ea typeface="Poppins Light" pitchFamily="34" charset="-122"/>
                <a:cs typeface="Poppins Light" pitchFamily="34" charset="-120"/>
              </a:rPr>
              <a:t>FinTech</a:t>
            </a:r>
            <a:endParaRPr lang="en-US" sz="2400" dirty="0"/>
          </a:p>
        </p:txBody>
      </p:sp>
      <p:sp>
        <p:nvSpPr>
          <p:cNvPr id="10" name="Text 5"/>
          <p:cNvSpPr/>
          <p:nvPr/>
        </p:nvSpPr>
        <p:spPr>
          <a:xfrm>
            <a:off x="7130653" y="4272082"/>
            <a:ext cx="6705957" cy="725805"/>
          </a:xfrm>
          <a:prstGeom prst="rect">
            <a:avLst/>
          </a:prstGeom>
          <a:noFill/>
          <a:ln/>
        </p:spPr>
        <p:txBody>
          <a:bodyPr wrap="square" lIns="0" tIns="0" rIns="0" bIns="0" rtlCol="0" anchor="t"/>
          <a:lstStyle/>
          <a:p>
            <a:pPr marL="0" indent="0" algn="l">
              <a:lnSpc>
                <a:spcPts val="2850"/>
              </a:lnSpc>
              <a:buNone/>
            </a:pPr>
            <a:r>
              <a:rPr lang="en-US" dirty="0">
                <a:solidFill>
                  <a:srgbClr val="E5E0DF"/>
                </a:solidFill>
                <a:latin typeface="Roboto Light" pitchFamily="34" charset="0"/>
                <a:ea typeface="Roboto Light" pitchFamily="34" charset="-122"/>
                <a:cs typeface="Roboto Light" pitchFamily="34" charset="-120"/>
              </a:rPr>
              <a:t>Ensuring ultra-low latency for high frequency trading across provider boundaries.</a:t>
            </a:r>
            <a:endParaRPr lang="en-US"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80190" y="5451515"/>
            <a:ext cx="566976" cy="566976"/>
          </a:xfrm>
          <a:prstGeom prst="rect">
            <a:avLst/>
          </a:prstGeom>
        </p:spPr>
      </p:pic>
      <p:sp>
        <p:nvSpPr>
          <p:cNvPr id="12" name="Text 6"/>
          <p:cNvSpPr/>
          <p:nvPr/>
        </p:nvSpPr>
        <p:spPr>
          <a:xfrm>
            <a:off x="7130653" y="5451515"/>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E5E0DF"/>
                </a:solidFill>
                <a:latin typeface="Poppins Light" pitchFamily="34" charset="0"/>
                <a:ea typeface="Poppins Light" pitchFamily="34" charset="-122"/>
                <a:cs typeface="Poppins Light" pitchFamily="34" charset="-120"/>
              </a:rPr>
              <a:t>Global SaaS</a:t>
            </a:r>
            <a:endParaRPr lang="en-US" sz="2400" dirty="0"/>
          </a:p>
        </p:txBody>
      </p:sp>
      <p:sp>
        <p:nvSpPr>
          <p:cNvPr id="13" name="Text 7"/>
          <p:cNvSpPr/>
          <p:nvPr/>
        </p:nvSpPr>
        <p:spPr>
          <a:xfrm>
            <a:off x="7130653" y="5941933"/>
            <a:ext cx="6705957" cy="362903"/>
          </a:xfrm>
          <a:prstGeom prst="rect">
            <a:avLst/>
          </a:prstGeom>
          <a:noFill/>
          <a:ln/>
        </p:spPr>
        <p:txBody>
          <a:bodyPr wrap="none" lIns="0" tIns="0" rIns="0" bIns="0" rtlCol="0" anchor="t"/>
          <a:lstStyle/>
          <a:p>
            <a:pPr marL="0" indent="0" algn="l">
              <a:lnSpc>
                <a:spcPts val="2850"/>
              </a:lnSpc>
              <a:buNone/>
            </a:pPr>
            <a:r>
              <a:rPr lang="en-US" dirty="0">
                <a:solidFill>
                  <a:srgbClr val="E5E0DF"/>
                </a:solidFill>
                <a:latin typeface="Roboto Light" pitchFamily="34" charset="0"/>
                <a:ea typeface="Roboto Light" pitchFamily="34" charset="-122"/>
                <a:cs typeface="Roboto Light" pitchFamily="34" charset="-120"/>
              </a:rPr>
              <a:t>Automatically shifting traffic during provider outages (Resilience).</a:t>
            </a:r>
            <a:endParaRPr lang="en-US" dirty="0"/>
          </a:p>
        </p:txBody>
      </p:sp>
      <p:sp>
        <p:nvSpPr>
          <p:cNvPr id="14" name="Text 8"/>
          <p:cNvSpPr/>
          <p:nvPr/>
        </p:nvSpPr>
        <p:spPr>
          <a:xfrm>
            <a:off x="6280190" y="6770533"/>
            <a:ext cx="7556421" cy="362903"/>
          </a:xfrm>
          <a:prstGeom prst="rect">
            <a:avLst/>
          </a:prstGeom>
          <a:noFill/>
          <a:ln/>
        </p:spPr>
        <p:txBody>
          <a:bodyPr wrap="non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Application Link:</a:t>
            </a:r>
            <a:endParaRPr lang="en-US" sz="2400" dirty="0"/>
          </a:p>
        </p:txBody>
      </p:sp>
      <p:sp>
        <p:nvSpPr>
          <p:cNvPr id="15" name="Text 9"/>
          <p:cNvSpPr/>
          <p:nvPr/>
        </p:nvSpPr>
        <p:spPr>
          <a:xfrm>
            <a:off x="6280190" y="7178040"/>
            <a:ext cx="7556421" cy="362903"/>
          </a:xfrm>
          <a:prstGeom prst="rect">
            <a:avLst/>
          </a:prstGeom>
          <a:noFill/>
          <a:ln/>
        </p:spPr>
        <p:txBody>
          <a:bodyPr wrap="none" lIns="0" tIns="0" rIns="0" bIns="0" rtlCol="0" anchor="t"/>
          <a:lstStyle/>
          <a:p>
            <a:pPr marL="0" indent="0" algn="l">
              <a:lnSpc>
                <a:spcPts val="2850"/>
              </a:lnSpc>
              <a:buNone/>
            </a:pPr>
            <a:r>
              <a:rPr lang="en-US" sz="2000" u="sng" dirty="0">
                <a:solidFill>
                  <a:srgbClr val="FCEC99"/>
                </a:solidFill>
                <a:latin typeface="Roboto Light" pitchFamily="34" charset="0"/>
                <a:ea typeface="Roboto Light" pitchFamily="34" charset="-122"/>
                <a:cs typeface="Roboto Light" pitchFamily="34" charset="-120"/>
                <a:hlinkClick r:id="rId7">
                  <a:extLst>
                    <a:ext uri="{A12FA001-AC4F-418D-AE19-62706E023703}">
                      <ahyp:hlinkClr xmlns:ahyp="http://schemas.microsoft.com/office/drawing/2018/hyperlinkcolor" val="tx"/>
                    </a:ext>
                  </a:extLst>
                </a:hlinkClick>
              </a:rPr>
              <a:t>https://main.d1cgcih5yi54e9.amplifyapp.com/</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9858" y="390406"/>
            <a:ext cx="4703445" cy="476250"/>
          </a:xfrm>
          <a:prstGeom prst="rect">
            <a:avLst/>
          </a:prstGeom>
          <a:noFill/>
          <a:ln/>
        </p:spPr>
        <p:txBody>
          <a:bodyPr wrap="none" lIns="0" tIns="0" rIns="0" bIns="0" rtlCol="0" anchor="t"/>
          <a:lstStyle/>
          <a:p>
            <a:pPr marL="0" indent="0" algn="l">
              <a:lnSpc>
                <a:spcPts val="3750"/>
              </a:lnSpc>
              <a:buNone/>
            </a:pPr>
            <a:r>
              <a:rPr lang="en-US" sz="3000" dirty="0">
                <a:solidFill>
                  <a:srgbClr val="F2F2F3"/>
                </a:solidFill>
                <a:latin typeface="Roboto" panose="02000000000000000000" pitchFamily="2" charset="0"/>
                <a:ea typeface="Roboto" panose="02000000000000000000" pitchFamily="2" charset="0"/>
                <a:cs typeface="Roboto" panose="02000000000000000000" pitchFamily="2" charset="0"/>
              </a:rPr>
              <a:t>Data Understanding: EDA</a:t>
            </a:r>
            <a:endParaRPr lang="en-US" sz="3000" dirty="0">
              <a:latin typeface="Roboto" panose="02000000000000000000" pitchFamily="2" charset="0"/>
              <a:ea typeface="Roboto" panose="02000000000000000000" pitchFamily="2" charset="0"/>
              <a:cs typeface="Roboto" panose="02000000000000000000" pitchFamily="2" charset="0"/>
            </a:endParaRPr>
          </a:p>
        </p:txBody>
      </p:sp>
      <p:sp>
        <p:nvSpPr>
          <p:cNvPr id="3" name="Shape 1"/>
          <p:cNvSpPr/>
          <p:nvPr/>
        </p:nvSpPr>
        <p:spPr>
          <a:xfrm>
            <a:off x="589856" y="1036348"/>
            <a:ext cx="4703445" cy="4950738"/>
          </a:xfrm>
          <a:prstGeom prst="roundRect">
            <a:avLst>
              <a:gd name="adj" fmla="val 3000"/>
            </a:avLst>
          </a:prstGeom>
          <a:solidFill>
            <a:srgbClr val="F2B42D"/>
          </a:solidFill>
          <a:ln/>
        </p:spPr>
        <p:txBody>
          <a:bodyPr/>
          <a:lstStyle/>
          <a:p>
            <a:endParaRPr lang="en-IN" dirty="0"/>
          </a:p>
        </p:txBody>
      </p:sp>
      <p:sp>
        <p:nvSpPr>
          <p:cNvPr id="4" name="Text 2"/>
          <p:cNvSpPr/>
          <p:nvPr/>
        </p:nvSpPr>
        <p:spPr>
          <a:xfrm>
            <a:off x="742257" y="1355892"/>
            <a:ext cx="2449392" cy="238125"/>
          </a:xfrm>
          <a:prstGeom prst="rect">
            <a:avLst/>
          </a:prstGeom>
          <a:noFill/>
          <a:ln/>
        </p:spPr>
        <p:txBody>
          <a:bodyPr wrap="none" lIns="0" tIns="0" rIns="0" bIns="0" rtlCol="0" anchor="t"/>
          <a:lstStyle/>
          <a:p>
            <a:pPr marL="0" indent="0" algn="l">
              <a:lnSpc>
                <a:spcPts val="1850"/>
              </a:lnSpc>
              <a:buNone/>
            </a:pP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Dataset</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5" name="Text 3"/>
          <p:cNvSpPr/>
          <p:nvPr/>
        </p:nvSpPr>
        <p:spPr>
          <a:xfrm>
            <a:off x="742257" y="1776778"/>
            <a:ext cx="4311542" cy="736302"/>
          </a:xfrm>
          <a:prstGeom prst="rect">
            <a:avLst/>
          </a:prstGeom>
          <a:noFill/>
          <a:ln/>
        </p:spPr>
        <p:txBody>
          <a:bodyPr wrap="square" lIns="0" tIns="0" rIns="0" bIns="0" rtlCol="0" anchor="t"/>
          <a:lstStyle/>
          <a:p>
            <a:pPr marL="0" indent="0" algn="l">
              <a:lnSpc>
                <a:spcPts val="1600"/>
              </a:lnSpc>
              <a:buNone/>
            </a:pP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40,000 lines of network observations mirroring real world population densities.</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6" name="Text 4"/>
          <p:cNvSpPr/>
          <p:nvPr/>
        </p:nvSpPr>
        <p:spPr>
          <a:xfrm>
            <a:off x="742257" y="2575026"/>
            <a:ext cx="4311542" cy="203835"/>
          </a:xfrm>
          <a:prstGeom prst="rect">
            <a:avLst/>
          </a:prstGeom>
          <a:noFill/>
          <a:ln/>
        </p:spPr>
        <p:txBody>
          <a:bodyPr wrap="none" lIns="0" tIns="0" rIns="0" bIns="0" rtlCol="0" anchor="t"/>
          <a:lstStyle/>
          <a:p>
            <a:pPr marL="0" indent="0" algn="l">
              <a:lnSpc>
                <a:spcPts val="1600"/>
              </a:lnSpc>
              <a:buNone/>
            </a:pP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10,000 rows from</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7" name="Text 5"/>
          <p:cNvSpPr/>
          <p:nvPr/>
        </p:nvSpPr>
        <p:spPr>
          <a:xfrm>
            <a:off x="742257" y="2913504"/>
            <a:ext cx="4311542" cy="203835"/>
          </a:xfrm>
          <a:prstGeom prst="rect">
            <a:avLst/>
          </a:prstGeom>
          <a:noFill/>
          <a:ln/>
        </p:spPr>
        <p:txBody>
          <a:bodyPr wrap="none" lIns="0" tIns="0" rIns="0" bIns="0" rtlCol="0" anchor="t"/>
          <a:lstStyle/>
          <a:p>
            <a:pPr marL="0" indent="0" algn="l">
              <a:lnSpc>
                <a:spcPts val="1600"/>
              </a:lnSpc>
              <a:buNone/>
            </a:pP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-Mendeley.datsets.com</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8" name="Text 6"/>
          <p:cNvSpPr/>
          <p:nvPr/>
        </p:nvSpPr>
        <p:spPr>
          <a:xfrm>
            <a:off x="742257" y="3251981"/>
            <a:ext cx="4311542" cy="605909"/>
          </a:xfrm>
          <a:prstGeom prst="rect">
            <a:avLst/>
          </a:prstGeom>
          <a:noFill/>
          <a:ln/>
        </p:spPr>
        <p:txBody>
          <a:bodyPr wrap="square" lIns="0" tIns="0" rIns="0" bIns="0" rtlCol="0" anchor="t"/>
          <a:lstStyle/>
          <a:p>
            <a:pPr marL="0" indent="0" algn="l">
              <a:lnSpc>
                <a:spcPts val="1600"/>
              </a:lnSpc>
              <a:buNone/>
            </a:pP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40,000 rows generated by the user locations were sampled from a mix of geographic hotspots.</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9" name="Text 7"/>
          <p:cNvSpPr/>
          <p:nvPr/>
        </p:nvSpPr>
        <p:spPr>
          <a:xfrm>
            <a:off x="742257" y="3751806"/>
            <a:ext cx="4311542" cy="203835"/>
          </a:xfrm>
          <a:prstGeom prst="rect">
            <a:avLst/>
          </a:prstGeom>
          <a:noFill/>
          <a:ln/>
        </p:spPr>
        <p:txBody>
          <a:bodyPr wrap="none" lIns="0" tIns="0" rIns="0" bIns="0" rtlCol="0" anchor="t"/>
          <a:lstStyle/>
          <a:p>
            <a:pPr marL="0" indent="0" algn="l">
              <a:lnSpc>
                <a:spcPts val="1600"/>
              </a:lnSpc>
              <a:buNone/>
            </a:pP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0" name="Text 8"/>
          <p:cNvSpPr/>
          <p:nvPr/>
        </p:nvSpPr>
        <p:spPr>
          <a:xfrm>
            <a:off x="742257" y="4058035"/>
            <a:ext cx="2449392" cy="238125"/>
          </a:xfrm>
          <a:prstGeom prst="rect">
            <a:avLst/>
          </a:prstGeom>
          <a:noFill/>
          <a:ln/>
        </p:spPr>
        <p:txBody>
          <a:bodyPr wrap="none" lIns="0" tIns="0" rIns="0" bIns="0" rtlCol="0" anchor="t"/>
          <a:lstStyle/>
          <a:p>
            <a:pPr marL="0" indent="0" algn="l">
              <a:lnSpc>
                <a:spcPts val="1850"/>
              </a:lnSpc>
              <a:buNone/>
            </a:pP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Columns</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11" name="Text 9"/>
          <p:cNvSpPr/>
          <p:nvPr/>
        </p:nvSpPr>
        <p:spPr>
          <a:xfrm>
            <a:off x="742257" y="4398554"/>
            <a:ext cx="4311542" cy="815340"/>
          </a:xfrm>
          <a:prstGeom prst="rect">
            <a:avLst/>
          </a:prstGeom>
          <a:noFill/>
          <a:ln/>
        </p:spPr>
        <p:txBody>
          <a:bodyPr wrap="square" lIns="0" tIns="0" rIns="0" bIns="0" rtlCol="0" anchor="t"/>
          <a:lstStyle/>
          <a:p>
            <a:pPr marL="0" indent="0" algn="l">
              <a:buNone/>
            </a:pPr>
            <a:r>
              <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rPr>
              <a:t>Region </a:t>
            </a: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(5), </a:t>
            </a:r>
            <a:r>
              <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rPr>
              <a:t>Cloud Provider </a:t>
            </a: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(3), Beyond just </a:t>
            </a:r>
            <a:r>
              <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rPr>
              <a:t>Distance </a:t>
            </a: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(0 to 42,000 KM) we use </a:t>
            </a:r>
            <a:r>
              <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rPr>
              <a:t>Network Load </a:t>
            </a: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(0.10–0.95), </a:t>
            </a:r>
            <a:r>
              <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rPr>
              <a:t>Packet Loss </a:t>
            </a: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(0.01-0.05) and </a:t>
            </a:r>
            <a:r>
              <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rPr>
              <a:t>Effective Bandwidth </a:t>
            </a:r>
            <a:r>
              <a:rPr lang="en-US" sz="2000" dirty="0">
                <a:solidFill>
                  <a:srgbClr val="000000"/>
                </a:solidFill>
                <a:latin typeface="Roboto" panose="02000000000000000000" pitchFamily="2" charset="0"/>
                <a:ea typeface="Roboto" panose="02000000000000000000" pitchFamily="2" charset="0"/>
                <a:cs typeface="Roboto" panose="02000000000000000000" pitchFamily="2" charset="0"/>
              </a:rPr>
              <a:t>(500-900)</a:t>
            </a:r>
            <a:endParaRPr lang="en-US" sz="2000" dirty="0">
              <a:latin typeface="Roboto" panose="02000000000000000000" pitchFamily="2" charset="0"/>
              <a:ea typeface="Roboto" panose="02000000000000000000" pitchFamily="2" charset="0"/>
              <a:cs typeface="Roboto" panose="02000000000000000000" pitchFamily="2" charset="0"/>
            </a:endParaRPr>
          </a:p>
        </p:txBody>
      </p:sp>
      <p:pic>
        <p:nvPicPr>
          <p:cNvPr id="12" name="Image 0" descr="preencoded.png"/>
          <p:cNvPicPr>
            <a:picLocks noChangeAspect="1"/>
          </p:cNvPicPr>
          <p:nvPr/>
        </p:nvPicPr>
        <p:blipFill>
          <a:blip r:embed="rId3"/>
          <a:stretch>
            <a:fillRect/>
          </a:stretch>
        </p:blipFill>
        <p:spPr>
          <a:xfrm>
            <a:off x="6341225" y="744437"/>
            <a:ext cx="7004385" cy="5254349"/>
          </a:xfrm>
          <a:prstGeom prst="rect">
            <a:avLst/>
          </a:prstGeom>
        </p:spPr>
      </p:pic>
      <p:sp>
        <p:nvSpPr>
          <p:cNvPr id="13" name="Text 10"/>
          <p:cNvSpPr/>
          <p:nvPr/>
        </p:nvSpPr>
        <p:spPr>
          <a:xfrm>
            <a:off x="589856" y="6156778"/>
            <a:ext cx="13357637" cy="203835"/>
          </a:xfrm>
          <a:prstGeom prst="rect">
            <a:avLst/>
          </a:prstGeom>
          <a:noFill/>
          <a:ln/>
        </p:spPr>
        <p:txBody>
          <a:bodyPr wrap="none" lIns="0" tIns="0" rIns="0" bIns="0" rtlCol="0" anchor="t"/>
          <a:lstStyle/>
          <a:p>
            <a:pPr marL="0" indent="0" algn="l">
              <a:buNone/>
            </a:pPr>
            <a:r>
              <a:rPr lang="en-US" sz="2800" b="1" dirty="0">
                <a:solidFill>
                  <a:srgbClr val="E5E0DF"/>
                </a:solidFill>
                <a:latin typeface="Roboto" panose="02000000000000000000" pitchFamily="2" charset="0"/>
                <a:ea typeface="Roboto" panose="02000000000000000000" pitchFamily="2" charset="0"/>
                <a:cs typeface="Roboto" panose="02000000000000000000" pitchFamily="2" charset="0"/>
              </a:rPr>
              <a:t>Data Cleaning &amp; Pipeline:</a:t>
            </a:r>
            <a:endParaRPr lang="en-US" sz="2800" dirty="0">
              <a:latin typeface="Roboto" panose="02000000000000000000" pitchFamily="2" charset="0"/>
              <a:ea typeface="Roboto" panose="02000000000000000000" pitchFamily="2" charset="0"/>
              <a:cs typeface="Roboto" panose="02000000000000000000" pitchFamily="2" charset="0"/>
            </a:endParaRPr>
          </a:p>
        </p:txBody>
      </p:sp>
      <p:sp>
        <p:nvSpPr>
          <p:cNvPr id="14" name="Text 11"/>
          <p:cNvSpPr/>
          <p:nvPr/>
        </p:nvSpPr>
        <p:spPr>
          <a:xfrm>
            <a:off x="589856" y="6625830"/>
            <a:ext cx="13357637" cy="1162526"/>
          </a:xfrm>
          <a:prstGeom prst="rect">
            <a:avLst/>
          </a:prstGeom>
          <a:noFill/>
          <a:ln/>
        </p:spPr>
        <p:txBody>
          <a:bodyPr wrap="square" lIns="0" tIns="0" rIns="0" bIns="0" rtlCol="0" anchor="t"/>
          <a:lstStyle/>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Integrity:</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Exact duplicate removal and group median imputation for missing values.</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Validation:</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Physical bounds checks (0–42k km) and provider verification (AWS, GCP, Azure).</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Logic Audits:</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Cross column consistency verification to ensure network physics alignment.</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Outlier Management:</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Automated IQR-based flagging to maintain dataset quality.</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Reproducibility:</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Fully scripted pipeline (</a:t>
            </a:r>
            <a:r>
              <a:rPr lang="en-US" sz="2000" dirty="0">
                <a:solidFill>
                  <a:srgbClr val="E5E0DF"/>
                </a:solidFill>
                <a:highlight>
                  <a:srgbClr val="121212"/>
                </a:highlight>
                <a:latin typeface="Roboto" panose="02000000000000000000" pitchFamily="2" charset="0"/>
                <a:ea typeface="Roboto" panose="02000000000000000000" pitchFamily="2" charset="0"/>
                <a:cs typeface="Roboto" panose="02000000000000000000" pitchFamily="2" charset="0"/>
              </a:rPr>
              <a:t>data_cleaning.py</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to ensure zero training-serving skew.</a:t>
            </a:r>
            <a:endParaRPr lang="en-US" sz="20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01460" y="530304"/>
            <a:ext cx="11893629" cy="553760"/>
          </a:xfrm>
          <a:prstGeom prst="rect">
            <a:avLst/>
          </a:prstGeom>
          <a:noFill/>
          <a:ln/>
        </p:spPr>
        <p:txBody>
          <a:bodyPr wrap="none" lIns="0" tIns="0" rIns="0" bIns="0" rtlCol="0" anchor="t"/>
          <a:lstStyle/>
          <a:p>
            <a:pPr marL="0" indent="0" algn="l">
              <a:lnSpc>
                <a:spcPts val="4350"/>
              </a:lnSpc>
              <a:buNone/>
            </a:pPr>
            <a:r>
              <a:rPr lang="en-US" sz="3450" dirty="0">
                <a:solidFill>
                  <a:srgbClr val="F2F2F3"/>
                </a:solidFill>
                <a:latin typeface="Roboto" panose="02000000000000000000" pitchFamily="2" charset="0"/>
                <a:ea typeface="Roboto" panose="02000000000000000000" pitchFamily="2" charset="0"/>
                <a:cs typeface="Roboto" panose="02000000000000000000" pitchFamily="2" charset="0"/>
              </a:rPr>
              <a:t>Models: From Linear Baselines to Advanced Ensembles</a:t>
            </a:r>
            <a:endParaRPr lang="en-US" sz="3450" dirty="0">
              <a:latin typeface="Roboto" panose="02000000000000000000" pitchFamily="2" charset="0"/>
              <a:ea typeface="Roboto" panose="02000000000000000000" pitchFamily="2" charset="0"/>
              <a:cs typeface="Roboto" panose="02000000000000000000" pitchFamily="2" charset="0"/>
            </a:endParaRPr>
          </a:p>
        </p:txBody>
      </p:sp>
      <p:sp>
        <p:nvSpPr>
          <p:cNvPr id="4" name="Text 1"/>
          <p:cNvSpPr/>
          <p:nvPr/>
        </p:nvSpPr>
        <p:spPr>
          <a:xfrm>
            <a:off x="3965738" y="1620726"/>
            <a:ext cx="211931"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Roboto" panose="02000000000000000000" pitchFamily="2" charset="0"/>
                <a:ea typeface="Roboto" panose="02000000000000000000" pitchFamily="2" charset="0"/>
                <a:cs typeface="Roboto" panose="02000000000000000000" pitchFamily="2" charset="0"/>
              </a:rPr>
              <a:t>23.9</a:t>
            </a:r>
            <a:endParaRPr lang="en-US" sz="650" dirty="0">
              <a:latin typeface="Roboto" panose="02000000000000000000" pitchFamily="2" charset="0"/>
              <a:ea typeface="Roboto" panose="02000000000000000000" pitchFamily="2" charset="0"/>
              <a:cs typeface="Roboto" panose="02000000000000000000" pitchFamily="2" charset="0"/>
            </a:endParaRPr>
          </a:p>
        </p:txBody>
      </p:sp>
      <p:sp>
        <p:nvSpPr>
          <p:cNvPr id="5" name="Text 2"/>
          <p:cNvSpPr/>
          <p:nvPr/>
        </p:nvSpPr>
        <p:spPr>
          <a:xfrm>
            <a:off x="7905317" y="2003250"/>
            <a:ext cx="211931"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Roboto" panose="02000000000000000000" pitchFamily="2" charset="0"/>
                <a:ea typeface="Roboto" panose="02000000000000000000" pitchFamily="2" charset="0"/>
                <a:cs typeface="Roboto" panose="02000000000000000000" pitchFamily="2" charset="0"/>
              </a:rPr>
              <a:t>70.1</a:t>
            </a:r>
            <a:endParaRPr lang="en-US" sz="650" dirty="0">
              <a:latin typeface="Roboto" panose="02000000000000000000" pitchFamily="2" charset="0"/>
              <a:ea typeface="Roboto" panose="02000000000000000000" pitchFamily="2" charset="0"/>
              <a:cs typeface="Roboto" panose="02000000000000000000" pitchFamily="2" charset="0"/>
            </a:endParaRPr>
          </a:p>
        </p:txBody>
      </p:sp>
      <p:sp>
        <p:nvSpPr>
          <p:cNvPr id="6" name="Text 3"/>
          <p:cNvSpPr/>
          <p:nvPr/>
        </p:nvSpPr>
        <p:spPr>
          <a:xfrm>
            <a:off x="7994490" y="2385774"/>
            <a:ext cx="211931"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Roboto" panose="02000000000000000000" pitchFamily="2" charset="0"/>
                <a:ea typeface="Roboto" panose="02000000000000000000" pitchFamily="2" charset="0"/>
                <a:cs typeface="Roboto" panose="02000000000000000000" pitchFamily="2" charset="0"/>
              </a:rPr>
              <a:t>71.2</a:t>
            </a:r>
            <a:endParaRPr lang="en-US" sz="650" dirty="0">
              <a:latin typeface="Roboto" panose="02000000000000000000" pitchFamily="2" charset="0"/>
              <a:ea typeface="Roboto" panose="02000000000000000000" pitchFamily="2" charset="0"/>
              <a:cs typeface="Roboto" panose="02000000000000000000" pitchFamily="2" charset="0"/>
            </a:endParaRPr>
          </a:p>
        </p:txBody>
      </p:sp>
      <p:sp>
        <p:nvSpPr>
          <p:cNvPr id="7" name="Text 4"/>
          <p:cNvSpPr/>
          <p:nvPr/>
        </p:nvSpPr>
        <p:spPr>
          <a:xfrm>
            <a:off x="9706694" y="2768298"/>
            <a:ext cx="211931"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Roboto" panose="02000000000000000000" pitchFamily="2" charset="0"/>
                <a:ea typeface="Roboto" panose="02000000000000000000" pitchFamily="2" charset="0"/>
                <a:cs typeface="Roboto" panose="02000000000000000000" pitchFamily="2" charset="0"/>
              </a:rPr>
              <a:t>91.4</a:t>
            </a:r>
            <a:endParaRPr lang="en-US" sz="650" dirty="0">
              <a:latin typeface="Roboto" panose="02000000000000000000" pitchFamily="2" charset="0"/>
              <a:ea typeface="Roboto" panose="02000000000000000000" pitchFamily="2" charset="0"/>
              <a:cs typeface="Roboto" panose="02000000000000000000" pitchFamily="2" charset="0"/>
            </a:endParaRPr>
          </a:p>
        </p:txBody>
      </p:sp>
      <p:sp>
        <p:nvSpPr>
          <p:cNvPr id="8" name="Text 5"/>
          <p:cNvSpPr/>
          <p:nvPr/>
        </p:nvSpPr>
        <p:spPr>
          <a:xfrm>
            <a:off x="10117536" y="3150822"/>
            <a:ext cx="211931"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Roboto" panose="02000000000000000000" pitchFamily="2" charset="0"/>
                <a:ea typeface="Roboto" panose="02000000000000000000" pitchFamily="2" charset="0"/>
                <a:cs typeface="Roboto" panose="02000000000000000000" pitchFamily="2" charset="0"/>
              </a:rPr>
              <a:t>96.3</a:t>
            </a:r>
            <a:endParaRPr lang="en-US" sz="650" dirty="0">
              <a:latin typeface="Roboto" panose="02000000000000000000" pitchFamily="2" charset="0"/>
              <a:ea typeface="Roboto" panose="02000000000000000000" pitchFamily="2" charset="0"/>
              <a:cs typeface="Roboto" panose="02000000000000000000" pitchFamily="2" charset="0"/>
            </a:endParaRPr>
          </a:p>
        </p:txBody>
      </p:sp>
      <p:sp>
        <p:nvSpPr>
          <p:cNvPr id="9" name="Text 6"/>
          <p:cNvSpPr/>
          <p:nvPr/>
        </p:nvSpPr>
        <p:spPr>
          <a:xfrm>
            <a:off x="1201460" y="3852505"/>
            <a:ext cx="5335191" cy="332303"/>
          </a:xfrm>
          <a:prstGeom prst="rect">
            <a:avLst/>
          </a:prstGeom>
          <a:noFill/>
          <a:ln/>
        </p:spPr>
        <p:txBody>
          <a:bodyPr wrap="none" lIns="0" tIns="0" rIns="0" bIns="0" rtlCol="0" anchor="t"/>
          <a:lstStyle/>
          <a:p>
            <a:pPr marL="0" indent="0" algn="l">
              <a:lnSpc>
                <a:spcPts val="2600"/>
              </a:lnSpc>
              <a:buNone/>
            </a:pPr>
            <a:r>
              <a:rPr lang="en-US" sz="2050" b="1" dirty="0">
                <a:solidFill>
                  <a:srgbClr val="F2F2F3"/>
                </a:solidFill>
                <a:latin typeface="Roboto" panose="02000000000000000000" pitchFamily="2" charset="0"/>
                <a:ea typeface="Roboto" panose="02000000000000000000" pitchFamily="2" charset="0"/>
                <a:cs typeface="Roboto" panose="02000000000000000000" pitchFamily="2" charset="0"/>
              </a:rPr>
              <a:t>Model Training &amp; Experimental Pipeline</a:t>
            </a:r>
            <a:endParaRPr lang="en-US" sz="2050" dirty="0">
              <a:latin typeface="Roboto" panose="02000000000000000000" pitchFamily="2" charset="0"/>
              <a:ea typeface="Roboto" panose="02000000000000000000" pitchFamily="2" charset="0"/>
              <a:cs typeface="Roboto" panose="02000000000000000000" pitchFamily="2" charset="0"/>
            </a:endParaRPr>
          </a:p>
        </p:txBody>
      </p:sp>
      <p:sp>
        <p:nvSpPr>
          <p:cNvPr id="10" name="Text 7"/>
          <p:cNvSpPr/>
          <p:nvPr/>
        </p:nvSpPr>
        <p:spPr>
          <a:xfrm>
            <a:off x="1201460" y="4392454"/>
            <a:ext cx="12227362" cy="1162288"/>
          </a:xfrm>
          <a:prstGeom prst="rect">
            <a:avLst/>
          </a:prstGeom>
          <a:noFill/>
          <a:ln/>
        </p:spPr>
        <p:txBody>
          <a:bodyPr wrap="square" lIns="0" tIns="0" rIns="0" bIns="0" rtlCol="0" anchor="t"/>
          <a:lstStyle/>
          <a:p>
            <a:pPr marL="342900" indent="-342900" algn="l">
              <a:lnSpc>
                <a:spcPts val="1950"/>
              </a:lnSpc>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Data Strategy:</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80/20 stratified split with 5-fold cross-validation for high result reliability.</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lnSpc>
                <a:spcPts val="1950"/>
              </a:lnSpc>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Core Architectures:</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Tuned </a:t>
            </a:r>
            <a:r>
              <a:rPr lang="en-US" dirty="0" err="1">
                <a:solidFill>
                  <a:srgbClr val="E5E0DF"/>
                </a:solidFill>
                <a:latin typeface="Roboto" panose="02000000000000000000" pitchFamily="2" charset="0"/>
                <a:ea typeface="Roboto" panose="02000000000000000000" pitchFamily="2" charset="0"/>
                <a:cs typeface="Roboto" panose="02000000000000000000" pitchFamily="2" charset="0"/>
              </a:rPr>
              <a:t>LightGBM</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(300 est), Random Forest (sqrt features), and 3-layer MLP (128-64-32).</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lnSpc>
                <a:spcPts val="1950"/>
              </a:lnSpc>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Advanced Refinements:</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CatBoost (symmetric trees for bias) and LightGBM (leaf-wise growth for &lt;10ms latency).</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lnSpc>
                <a:spcPts val="1950"/>
              </a:lnSpc>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Cloud Deployment:</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All models serialized via </a:t>
            </a:r>
            <a:r>
              <a:rPr lang="en-US" dirty="0">
                <a:solidFill>
                  <a:srgbClr val="E5E0DF"/>
                </a:solidFill>
                <a:highlight>
                  <a:srgbClr val="121212"/>
                </a:highlight>
                <a:latin typeface="Roboto" panose="02000000000000000000" pitchFamily="2" charset="0"/>
                <a:ea typeface="Roboto" panose="02000000000000000000" pitchFamily="2" charset="0"/>
                <a:cs typeface="Roboto" panose="02000000000000000000" pitchFamily="2" charset="0"/>
              </a:rPr>
              <a:t>joblib</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for on-demand, real-time cloud serving.</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1" name="Text 8"/>
          <p:cNvSpPr/>
          <p:nvPr/>
        </p:nvSpPr>
        <p:spPr>
          <a:xfrm>
            <a:off x="1201460" y="5848826"/>
            <a:ext cx="2215039" cy="276820"/>
          </a:xfrm>
          <a:prstGeom prst="rect">
            <a:avLst/>
          </a:prstGeom>
          <a:noFill/>
          <a:ln/>
        </p:spPr>
        <p:txBody>
          <a:bodyPr wrap="none" lIns="0" tIns="0" rIns="0" bIns="0" rtlCol="0" anchor="t"/>
          <a:lstStyle/>
          <a:p>
            <a:pPr marL="0" indent="0" algn="l">
              <a:lnSpc>
                <a:spcPts val="2150"/>
              </a:lnSpc>
              <a:buNone/>
            </a:pPr>
            <a:r>
              <a:rPr lang="en-US" sz="3200" dirty="0">
                <a:solidFill>
                  <a:srgbClr val="F2F2F3"/>
                </a:solidFill>
                <a:latin typeface="Roboto" panose="02000000000000000000" pitchFamily="2" charset="0"/>
                <a:ea typeface="Roboto" panose="02000000000000000000" pitchFamily="2" charset="0"/>
                <a:cs typeface="Roboto" panose="02000000000000000000" pitchFamily="2" charset="0"/>
              </a:rPr>
              <a:t>Baselines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2" name="Text 9"/>
          <p:cNvSpPr/>
          <p:nvPr/>
        </p:nvSpPr>
        <p:spPr>
          <a:xfrm>
            <a:off x="1201460" y="6263997"/>
            <a:ext cx="5897523" cy="504825"/>
          </a:xfrm>
          <a:prstGeom prst="rect">
            <a:avLst/>
          </a:prstGeom>
          <a:noFill/>
          <a:ln/>
        </p:spPr>
        <p:txBody>
          <a:bodyPr wrap="square" lIns="0" tIns="0" rIns="0" bIns="0" rtlCol="0" anchor="t"/>
          <a:lstStyle/>
          <a:p>
            <a:pPr marL="0" indent="0" algn="l">
              <a:buNone/>
            </a:pP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Dummy Classifier (23.9% Acc) and Logistic Regression (71.2% Acc) which scales using StandardScaler.</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13" name="Text 10"/>
          <p:cNvSpPr/>
          <p:nvPr/>
        </p:nvSpPr>
        <p:spPr>
          <a:xfrm>
            <a:off x="7538799" y="5848826"/>
            <a:ext cx="2215039" cy="276820"/>
          </a:xfrm>
          <a:prstGeom prst="rect">
            <a:avLst/>
          </a:prstGeom>
          <a:noFill/>
          <a:ln/>
        </p:spPr>
        <p:txBody>
          <a:bodyPr wrap="none" lIns="0" tIns="0" rIns="0" bIns="0" rtlCol="0" anchor="t"/>
          <a:lstStyle/>
          <a:p>
            <a:pPr marL="0" indent="0" algn="l">
              <a:lnSpc>
                <a:spcPts val="2150"/>
              </a:lnSpc>
              <a:buNone/>
            </a:pPr>
            <a:r>
              <a:rPr lang="en-US" sz="3200" dirty="0">
                <a:solidFill>
                  <a:srgbClr val="F2F2F3"/>
                </a:solidFill>
                <a:latin typeface="Roboto" panose="02000000000000000000" pitchFamily="2" charset="0"/>
                <a:ea typeface="Roboto" panose="02000000000000000000" pitchFamily="2" charset="0"/>
                <a:cs typeface="Roboto" panose="02000000000000000000" pitchFamily="2" charset="0"/>
              </a:rPr>
              <a:t>Advanced Models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4" name="Text 11"/>
          <p:cNvSpPr/>
          <p:nvPr/>
        </p:nvSpPr>
        <p:spPr>
          <a:xfrm>
            <a:off x="7538799" y="6263997"/>
            <a:ext cx="5897523" cy="252413"/>
          </a:xfrm>
          <a:prstGeom prst="rect">
            <a:avLst/>
          </a:prstGeom>
          <a:noFill/>
          <a:ln/>
        </p:spPr>
        <p:txBody>
          <a:bodyPr wrap="none" lIns="0" tIns="0" rIns="0" bIns="0" rtlCol="0" anchor="t"/>
          <a:lstStyle/>
          <a:p>
            <a:pPr marL="0" indent="0" algn="l">
              <a:lnSpc>
                <a:spcPts val="1950"/>
              </a:lnSpc>
              <a:buNone/>
            </a:pP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Random Forest, CatBoost, LightGBM and XGBoost.</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15" name="Text 12"/>
          <p:cNvSpPr/>
          <p:nvPr/>
        </p:nvSpPr>
        <p:spPr>
          <a:xfrm>
            <a:off x="7538799" y="6793170"/>
            <a:ext cx="2215039" cy="276820"/>
          </a:xfrm>
          <a:prstGeom prst="rect">
            <a:avLst/>
          </a:prstGeom>
          <a:noFill/>
          <a:ln/>
        </p:spPr>
        <p:txBody>
          <a:bodyPr wrap="none" lIns="0" tIns="0" rIns="0" bIns="0" rtlCol="0" anchor="t"/>
          <a:lstStyle/>
          <a:p>
            <a:pPr marL="0" indent="0" algn="l">
              <a:lnSpc>
                <a:spcPts val="2150"/>
              </a:lnSpc>
              <a:buNone/>
            </a:pPr>
            <a:r>
              <a:rPr lang="en-US" sz="3200" dirty="0">
                <a:solidFill>
                  <a:srgbClr val="F2F2F3"/>
                </a:solidFill>
                <a:latin typeface="Roboto" panose="02000000000000000000" pitchFamily="2" charset="0"/>
                <a:ea typeface="Roboto" panose="02000000000000000000" pitchFamily="2" charset="0"/>
                <a:cs typeface="Roboto" panose="02000000000000000000" pitchFamily="2" charset="0"/>
              </a:rPr>
              <a:t>The Winner</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6" name="Text 13"/>
          <p:cNvSpPr/>
          <p:nvPr/>
        </p:nvSpPr>
        <p:spPr>
          <a:xfrm>
            <a:off x="7538799" y="7069931"/>
            <a:ext cx="5897523" cy="504825"/>
          </a:xfrm>
          <a:prstGeom prst="rect">
            <a:avLst/>
          </a:prstGeom>
          <a:noFill/>
          <a:ln/>
        </p:spPr>
        <p:txBody>
          <a:bodyPr wrap="square" lIns="0" tIns="0" rIns="0" bIns="0" rtlCol="0" anchor="t"/>
          <a:lstStyle/>
          <a:p>
            <a:pPr marL="0" indent="0" algn="l">
              <a:buNone/>
            </a:pPr>
            <a:r>
              <a:rPr lang="en-US" sz="2400" b="1" dirty="0" err="1">
                <a:solidFill>
                  <a:srgbClr val="E5E0DF"/>
                </a:solidFill>
                <a:latin typeface="Roboto" panose="02000000000000000000" pitchFamily="2" charset="0"/>
                <a:ea typeface="Roboto" panose="02000000000000000000" pitchFamily="2" charset="0"/>
                <a:cs typeface="Roboto" panose="02000000000000000000" pitchFamily="2" charset="0"/>
              </a:rPr>
              <a:t>LightGBM</a:t>
            </a: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 achieved 91.3% accuracy, proving non linear models are essential for network clustering.</a:t>
            </a:r>
            <a:endParaRPr lang="en-US" sz="2400" dirty="0">
              <a:latin typeface="Roboto" panose="02000000000000000000" pitchFamily="2" charset="0"/>
              <a:ea typeface="Roboto" panose="02000000000000000000" pitchFamily="2" charset="0"/>
              <a:cs typeface="Roboto" panose="02000000000000000000" pitchFamily="2" charset="0"/>
            </a:endParaRPr>
          </a:p>
        </p:txBody>
      </p:sp>
      <p:pic>
        <p:nvPicPr>
          <p:cNvPr id="22" name="Picture 21">
            <a:extLst>
              <a:ext uri="{FF2B5EF4-FFF2-40B4-BE49-F238E27FC236}">
                <a16:creationId xmlns:a16="http://schemas.microsoft.com/office/drawing/2014/main" id="{DA8CEE97-EB9A-3D9C-35CE-5601224EB9DB}"/>
              </a:ext>
            </a:extLst>
          </p:cNvPr>
          <p:cNvPicPr>
            <a:picLocks noChangeAspect="1"/>
          </p:cNvPicPr>
          <p:nvPr/>
        </p:nvPicPr>
        <p:blipFill>
          <a:blip r:embed="rId3"/>
          <a:stretch>
            <a:fillRect/>
          </a:stretch>
        </p:blipFill>
        <p:spPr>
          <a:xfrm>
            <a:off x="1330141" y="1096385"/>
            <a:ext cx="11764948" cy="27777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9897" y="434399"/>
            <a:ext cx="10572274" cy="564713"/>
          </a:xfrm>
          <a:prstGeom prst="rect">
            <a:avLst/>
          </a:prstGeom>
          <a:noFill/>
          <a:ln/>
        </p:spPr>
        <p:txBody>
          <a:bodyPr wrap="none" lIns="0" tIns="0" rIns="0" bIns="0" rtlCol="0" anchor="t"/>
          <a:lstStyle/>
          <a:p>
            <a:pPr marL="0" indent="0" algn="l">
              <a:lnSpc>
                <a:spcPts val="4400"/>
              </a:lnSpc>
              <a:buNone/>
            </a:pPr>
            <a:r>
              <a:rPr lang="en-US" sz="3550" dirty="0">
                <a:solidFill>
                  <a:srgbClr val="F2F2F3"/>
                </a:solidFill>
                <a:latin typeface="Roboto" panose="02000000000000000000" pitchFamily="2" charset="0"/>
                <a:ea typeface="Roboto" panose="02000000000000000000" pitchFamily="2" charset="0"/>
                <a:cs typeface="Roboto" panose="02000000000000000000" pitchFamily="2" charset="0"/>
              </a:rPr>
              <a:t>Interpreting the "Black Box": Why a DC Is Chosen</a:t>
            </a:r>
            <a:endParaRPr lang="en-US" sz="3550" dirty="0">
              <a:latin typeface="Roboto" panose="02000000000000000000" pitchFamily="2" charset="0"/>
              <a:ea typeface="Roboto" panose="02000000000000000000" pitchFamily="2" charset="0"/>
              <a:cs typeface="Roboto" panose="02000000000000000000" pitchFamily="2" charset="0"/>
            </a:endParaRPr>
          </a:p>
        </p:txBody>
      </p:sp>
      <p:sp>
        <p:nvSpPr>
          <p:cNvPr id="3" name="Text 1"/>
          <p:cNvSpPr/>
          <p:nvPr/>
        </p:nvSpPr>
        <p:spPr>
          <a:xfrm>
            <a:off x="569897" y="1356241"/>
            <a:ext cx="3255875" cy="282416"/>
          </a:xfrm>
          <a:prstGeom prst="rect">
            <a:avLst/>
          </a:prstGeom>
          <a:noFill/>
          <a:ln/>
        </p:spPr>
        <p:txBody>
          <a:bodyPr wrap="none" lIns="0" tIns="0" rIns="0" bIns="0" rtlCol="0" anchor="t"/>
          <a:lstStyle/>
          <a:p>
            <a:pPr marL="0" indent="0" algn="l">
              <a:buNone/>
            </a:pPr>
            <a:r>
              <a:rPr lang="en-US" sz="2400" dirty="0">
                <a:solidFill>
                  <a:srgbClr val="F2F2F3"/>
                </a:solidFill>
                <a:latin typeface="Roboto" panose="02000000000000000000" pitchFamily="2" charset="0"/>
                <a:ea typeface="Roboto" panose="02000000000000000000" pitchFamily="2" charset="0"/>
                <a:cs typeface="Roboto" panose="02000000000000000000" pitchFamily="2" charset="0"/>
              </a:rPr>
              <a:t>Hybrid Feature Importance</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4" name="Text 2"/>
          <p:cNvSpPr/>
          <p:nvPr/>
        </p:nvSpPr>
        <p:spPr>
          <a:xfrm>
            <a:off x="569897" y="1782604"/>
            <a:ext cx="6517299" cy="519589"/>
          </a:xfrm>
          <a:prstGeom prst="rect">
            <a:avLst/>
          </a:prstGeom>
          <a:noFill/>
          <a:ln/>
        </p:spPr>
        <p:txBody>
          <a:bodyPr wrap="square" lIns="0" tIns="0" rIns="0" bIns="0" rtlCol="0" anchor="t"/>
          <a:lstStyle/>
          <a:p>
            <a:pPr marL="0" indent="0" algn="l">
              <a:buNone/>
            </a:pP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SHAP-based analysis confirms the model isn't guessing — it's calculating real-world network health.</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5" name="Text 3"/>
          <p:cNvSpPr/>
          <p:nvPr/>
        </p:nvSpPr>
        <p:spPr>
          <a:xfrm>
            <a:off x="569897" y="2431733"/>
            <a:ext cx="6517299" cy="1190268"/>
          </a:xfrm>
          <a:prstGeom prst="rect">
            <a:avLst/>
          </a:prstGeom>
          <a:noFill/>
          <a:ln/>
        </p:spPr>
        <p:txBody>
          <a:bodyPr wrap="square" lIns="0" tIns="0" rIns="0" bIns="0" rtlCol="0" anchor="t"/>
          <a:lstStyle/>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Packet Loss:</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Dominant penalty signal</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Geographic Distance:</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Degradation anchor signal</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dist_load_ratio:</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Dynamic congestion edge</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effective_bw:</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Throughput under real load</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6" name="Shape 4"/>
          <p:cNvSpPr/>
          <p:nvPr/>
        </p:nvSpPr>
        <p:spPr>
          <a:xfrm>
            <a:off x="569897" y="3783926"/>
            <a:ext cx="6517299" cy="928568"/>
          </a:xfrm>
          <a:prstGeom prst="roundRect">
            <a:avLst>
              <a:gd name="adj" fmla="val 8176"/>
            </a:avLst>
          </a:prstGeom>
          <a:solidFill>
            <a:srgbClr val="252528"/>
          </a:solidFill>
          <a:ln/>
        </p:spPr>
      </p:sp>
      <p:pic>
        <p:nvPicPr>
          <p:cNvPr id="7" name="Image 0" descr="preencoded.png"/>
          <p:cNvPicPr>
            <a:picLocks noChangeAspect="1"/>
          </p:cNvPicPr>
          <p:nvPr/>
        </p:nvPicPr>
        <p:blipFill>
          <a:blip r:embed="rId3"/>
          <a:stretch>
            <a:fillRect/>
          </a:stretch>
        </p:blipFill>
        <p:spPr>
          <a:xfrm>
            <a:off x="750632" y="4042053"/>
            <a:ext cx="244707" cy="180737"/>
          </a:xfrm>
          <a:prstGeom prst="rect">
            <a:avLst/>
          </a:prstGeom>
        </p:spPr>
      </p:pic>
      <p:sp>
        <p:nvSpPr>
          <p:cNvPr id="8" name="Text 5"/>
          <p:cNvSpPr/>
          <p:nvPr/>
        </p:nvSpPr>
        <p:spPr>
          <a:xfrm>
            <a:off x="1157232" y="3972997"/>
            <a:ext cx="5685142" cy="519589"/>
          </a:xfrm>
          <a:prstGeom prst="rect">
            <a:avLst/>
          </a:prstGeom>
          <a:noFill/>
          <a:ln/>
        </p:spPr>
        <p:txBody>
          <a:bodyPr wrap="square" lIns="0" tIns="0" rIns="0" bIns="0" rtlCol="0" anchor="t"/>
          <a:lstStyle/>
          <a:p>
            <a:pPr marL="0" indent="0" algn="l">
              <a:buNone/>
            </a:pPr>
            <a:r>
              <a:rPr lang="en-US" sz="2000" dirty="0">
                <a:solidFill>
                  <a:srgbClr val="FFFFFF"/>
                </a:solidFill>
                <a:latin typeface="Roboto" panose="02000000000000000000" pitchFamily="2" charset="0"/>
                <a:ea typeface="Roboto" panose="02000000000000000000" pitchFamily="2" charset="0"/>
                <a:cs typeface="Roboto" panose="02000000000000000000" pitchFamily="2" charset="0"/>
              </a:rPr>
              <a:t>Health metrics provide the dynamic routing edge over static solutions.</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9" name="Text 6"/>
          <p:cNvSpPr/>
          <p:nvPr/>
        </p:nvSpPr>
        <p:spPr>
          <a:xfrm>
            <a:off x="569897" y="4874419"/>
            <a:ext cx="6517299" cy="259794"/>
          </a:xfrm>
          <a:prstGeom prst="rect">
            <a:avLst/>
          </a:prstGeom>
          <a:noFill/>
          <a:ln/>
        </p:spPr>
        <p:txBody>
          <a:bodyPr wrap="none" lIns="0" tIns="0" rIns="0" bIns="0" rtlCol="0" anchor="t"/>
          <a:lstStyle/>
          <a:p>
            <a:pPr marL="0" indent="0" algn="l">
              <a:buNone/>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SHAP Feature Insights</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10" name="Text 7"/>
          <p:cNvSpPr/>
          <p:nvPr/>
        </p:nvSpPr>
        <p:spPr>
          <a:xfrm>
            <a:off x="569897" y="5263754"/>
            <a:ext cx="6517299" cy="1891784"/>
          </a:xfrm>
          <a:prstGeom prst="rect">
            <a:avLst/>
          </a:prstGeom>
          <a:noFill/>
          <a:ln/>
        </p:spPr>
        <p:txBody>
          <a:bodyPr wrap="square" lIns="0" tIns="0" rIns="0" bIns="0" rtlCol="0" anchor="t"/>
          <a:lstStyle/>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Logic Validation:</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SHAP results confirm distance (0.48) and </a:t>
            </a:r>
            <a:r>
              <a:rPr lang="en-US" sz="2000" dirty="0">
                <a:solidFill>
                  <a:srgbClr val="E5E0DF"/>
                </a:solidFill>
                <a:highlight>
                  <a:srgbClr val="121212"/>
                </a:highlight>
                <a:latin typeface="Roboto" panose="02000000000000000000" pitchFamily="2" charset="0"/>
                <a:ea typeface="Roboto" panose="02000000000000000000" pitchFamily="2" charset="0"/>
                <a:cs typeface="Roboto" panose="02000000000000000000" pitchFamily="2" charset="0"/>
              </a:rPr>
              <a:t>dist_load_ratio</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(0.31) as top drivers, validating that the model correctly prioritizes proximity and real-time congestion.</a:t>
            </a:r>
            <a:endParaRPr lang="en-US" sz="2000"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Feature Efficiency:</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The minimal impact of cardinal coordinates (</a:t>
            </a:r>
            <a:r>
              <a:rPr lang="en-US" sz="2000" dirty="0">
                <a:solidFill>
                  <a:srgbClr val="E5E0DF"/>
                </a:solidFill>
                <a:highlight>
                  <a:srgbClr val="121212"/>
                </a:highlight>
                <a:latin typeface="Roboto" panose="02000000000000000000" pitchFamily="2" charset="0"/>
                <a:ea typeface="Roboto" panose="02000000000000000000" pitchFamily="2" charset="0"/>
                <a:cs typeface="Roboto" panose="02000000000000000000" pitchFamily="2" charset="0"/>
              </a:rPr>
              <a:t>dc_lat</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a:t>
            </a:r>
            <a:r>
              <a:rPr lang="en-US" sz="2000" dirty="0">
                <a:solidFill>
                  <a:srgbClr val="E5E0DF"/>
                </a:solidFill>
                <a:highlight>
                  <a:srgbClr val="121212"/>
                </a:highlight>
                <a:latin typeface="Roboto" panose="02000000000000000000" pitchFamily="2" charset="0"/>
                <a:ea typeface="Roboto" panose="02000000000000000000" pitchFamily="2" charset="0"/>
                <a:cs typeface="Roboto" panose="02000000000000000000" pitchFamily="2" charset="0"/>
              </a:rPr>
              <a:t>dc_lon</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proves the engineered Haversine distance captures all necessary spatial data, allowing the model to ignore redundant variables.</a:t>
            </a:r>
            <a:endParaRPr lang="en-US" sz="2000" dirty="0">
              <a:latin typeface="Roboto" panose="02000000000000000000" pitchFamily="2" charset="0"/>
              <a:ea typeface="Roboto" panose="02000000000000000000" pitchFamily="2" charset="0"/>
              <a:cs typeface="Roboto" panose="02000000000000000000" pitchFamily="2" charset="0"/>
            </a:endParaRPr>
          </a:p>
        </p:txBody>
      </p:sp>
      <p:pic>
        <p:nvPicPr>
          <p:cNvPr id="11" name="Image 1" descr="preencoded.png"/>
          <p:cNvPicPr>
            <a:picLocks noChangeAspect="1"/>
          </p:cNvPicPr>
          <p:nvPr/>
        </p:nvPicPr>
        <p:blipFill>
          <a:blip r:embed="rId4"/>
          <a:stretch>
            <a:fillRect/>
          </a:stretch>
        </p:blipFill>
        <p:spPr>
          <a:xfrm>
            <a:off x="7674531" y="1467040"/>
            <a:ext cx="6015395" cy="6015395"/>
          </a:xfrm>
          <a:prstGeom prst="rect">
            <a:avLst/>
          </a:prstGeom>
        </p:spPr>
      </p:pic>
      <p:pic>
        <p:nvPicPr>
          <p:cNvPr id="12" name="Image 2" descr="preencoded.png"/>
          <p:cNvPicPr>
            <a:picLocks noChangeAspect="1"/>
          </p:cNvPicPr>
          <p:nvPr/>
        </p:nvPicPr>
        <p:blipFill>
          <a:blip r:embed="rId5"/>
          <a:stretch>
            <a:fillRect/>
          </a:stretch>
        </p:blipFill>
        <p:spPr>
          <a:xfrm>
            <a:off x="7674531" y="1467040"/>
            <a:ext cx="6015395" cy="60153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181011" y="711994"/>
            <a:ext cx="7754779" cy="1240155"/>
          </a:xfrm>
          <a:prstGeom prst="rect">
            <a:avLst/>
          </a:prstGeom>
          <a:noFill/>
          <a:ln/>
        </p:spPr>
        <p:txBody>
          <a:bodyPr wrap="square" lIns="0" tIns="0" rIns="0" bIns="0" rtlCol="0" anchor="t"/>
          <a:lstStyle/>
          <a:p>
            <a:pPr marL="0" indent="0" algn="l">
              <a:lnSpc>
                <a:spcPts val="4850"/>
              </a:lnSpc>
              <a:buNone/>
            </a:pPr>
            <a:r>
              <a:rPr lang="en-US" sz="3900" dirty="0">
                <a:solidFill>
                  <a:srgbClr val="F2F2F3"/>
                </a:solidFill>
                <a:latin typeface="Roboto" panose="02000000000000000000" pitchFamily="2" charset="0"/>
                <a:ea typeface="Roboto" panose="02000000000000000000" pitchFamily="2" charset="0"/>
                <a:cs typeface="Roboto" panose="02000000000000000000" pitchFamily="2" charset="0"/>
              </a:rPr>
              <a:t>THE Architecture</a:t>
            </a:r>
            <a:endParaRPr lang="en-US" sz="3900" dirty="0">
              <a:latin typeface="Roboto" panose="02000000000000000000" pitchFamily="2" charset="0"/>
              <a:ea typeface="Roboto" panose="02000000000000000000" pitchFamily="2" charset="0"/>
              <a:cs typeface="Roboto" panose="02000000000000000000" pitchFamily="2" charset="0"/>
            </a:endParaRPr>
          </a:p>
        </p:txBody>
      </p:sp>
      <p:sp>
        <p:nvSpPr>
          <p:cNvPr id="4" name="Text 1"/>
          <p:cNvSpPr/>
          <p:nvPr/>
        </p:nvSpPr>
        <p:spPr>
          <a:xfrm>
            <a:off x="6181011" y="2311718"/>
            <a:ext cx="3768804"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Roboto" panose="02000000000000000000" pitchFamily="2" charset="0"/>
                <a:ea typeface="Roboto" panose="02000000000000000000" pitchFamily="2" charset="0"/>
                <a:cs typeface="Roboto" panose="02000000000000000000" pitchFamily="2" charset="0"/>
              </a:rPr>
              <a:t>3.4ms</a:t>
            </a:r>
            <a:endParaRPr lang="en-US" sz="5150" dirty="0">
              <a:latin typeface="Roboto" panose="02000000000000000000" pitchFamily="2" charset="0"/>
              <a:ea typeface="Roboto" panose="02000000000000000000" pitchFamily="2" charset="0"/>
              <a:cs typeface="Roboto" panose="02000000000000000000" pitchFamily="2" charset="0"/>
            </a:endParaRPr>
          </a:p>
        </p:txBody>
      </p:sp>
      <p:sp>
        <p:nvSpPr>
          <p:cNvPr id="5" name="Text 2"/>
          <p:cNvSpPr/>
          <p:nvPr/>
        </p:nvSpPr>
        <p:spPr>
          <a:xfrm>
            <a:off x="6824901" y="3195995"/>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Roboto" panose="02000000000000000000" pitchFamily="2" charset="0"/>
                <a:ea typeface="Roboto" panose="02000000000000000000" pitchFamily="2" charset="0"/>
                <a:cs typeface="Roboto" panose="02000000000000000000" pitchFamily="2" charset="0"/>
              </a:rPr>
              <a:t>Min Inference Time</a:t>
            </a:r>
            <a:endParaRPr lang="en-US" sz="1950" dirty="0">
              <a:latin typeface="Roboto" panose="02000000000000000000" pitchFamily="2" charset="0"/>
              <a:ea typeface="Roboto" panose="02000000000000000000" pitchFamily="2" charset="0"/>
              <a:cs typeface="Roboto" panose="02000000000000000000" pitchFamily="2" charset="0"/>
            </a:endParaRPr>
          </a:p>
        </p:txBody>
      </p:sp>
      <p:sp>
        <p:nvSpPr>
          <p:cNvPr id="6" name="Text 3"/>
          <p:cNvSpPr/>
          <p:nvPr/>
        </p:nvSpPr>
        <p:spPr>
          <a:xfrm>
            <a:off x="6181011" y="3610332"/>
            <a:ext cx="3768804" cy="595313"/>
          </a:xfrm>
          <a:prstGeom prst="rect">
            <a:avLst/>
          </a:prstGeom>
          <a:noFill/>
          <a:ln/>
        </p:spPr>
        <p:txBody>
          <a:bodyPr wrap="square" lIns="0" tIns="0" rIns="0" bIns="0" rtlCol="0" anchor="t"/>
          <a:lstStyle/>
          <a:p>
            <a:pPr marL="0" indent="0" algn="ctr">
              <a:lnSpc>
                <a:spcPts val="2300"/>
              </a:lnSpc>
              <a:buNone/>
            </a:pPr>
            <a:r>
              <a:rPr lang="en-US" sz="1550" dirty="0">
                <a:solidFill>
                  <a:srgbClr val="E5E0DF"/>
                </a:solidFill>
                <a:latin typeface="Roboto" panose="02000000000000000000" pitchFamily="2" charset="0"/>
                <a:ea typeface="Roboto" panose="02000000000000000000" pitchFamily="2" charset="0"/>
                <a:cs typeface="Roboto" panose="02000000000000000000" pitchFamily="2" charset="0"/>
              </a:rPr>
              <a:t>Inference time of </a:t>
            </a:r>
            <a:r>
              <a:rPr lang="en-US" sz="1550" b="1" dirty="0">
                <a:solidFill>
                  <a:srgbClr val="E5E0DF"/>
                </a:solidFill>
                <a:latin typeface="Roboto" panose="02000000000000000000" pitchFamily="2" charset="0"/>
                <a:ea typeface="Roboto" panose="02000000000000000000" pitchFamily="2" charset="0"/>
                <a:cs typeface="Roboto" panose="02000000000000000000" pitchFamily="2" charset="0"/>
              </a:rPr>
              <a:t>3.4ms to 22ms</a:t>
            </a:r>
            <a:r>
              <a:rPr lang="en-US" sz="1550" dirty="0">
                <a:solidFill>
                  <a:srgbClr val="E5E0DF"/>
                </a:solidFill>
                <a:latin typeface="Roboto" panose="02000000000000000000" pitchFamily="2" charset="0"/>
                <a:ea typeface="Roboto" panose="02000000000000000000" pitchFamily="2" charset="0"/>
                <a:cs typeface="Roboto" panose="02000000000000000000" pitchFamily="2" charset="0"/>
              </a:rPr>
              <a:t> per batch, satisfying real-time routing requirements.</a:t>
            </a:r>
            <a:endParaRPr lang="en-US" sz="1550" dirty="0">
              <a:latin typeface="Roboto" panose="02000000000000000000" pitchFamily="2" charset="0"/>
              <a:ea typeface="Roboto" panose="02000000000000000000" pitchFamily="2" charset="0"/>
              <a:cs typeface="Roboto" panose="02000000000000000000" pitchFamily="2" charset="0"/>
            </a:endParaRPr>
          </a:p>
        </p:txBody>
      </p:sp>
      <p:sp>
        <p:nvSpPr>
          <p:cNvPr id="7" name="Text 4"/>
          <p:cNvSpPr/>
          <p:nvPr/>
        </p:nvSpPr>
        <p:spPr>
          <a:xfrm>
            <a:off x="10166866" y="2311718"/>
            <a:ext cx="3768923"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Roboto" panose="02000000000000000000" pitchFamily="2" charset="0"/>
                <a:ea typeface="Roboto" panose="02000000000000000000" pitchFamily="2" charset="0"/>
                <a:cs typeface="Roboto" panose="02000000000000000000" pitchFamily="2" charset="0"/>
              </a:rPr>
              <a:t>5ms</a:t>
            </a:r>
            <a:endParaRPr lang="en-US" sz="5150" dirty="0">
              <a:latin typeface="Roboto" panose="02000000000000000000" pitchFamily="2" charset="0"/>
              <a:ea typeface="Roboto" panose="02000000000000000000" pitchFamily="2" charset="0"/>
              <a:cs typeface="Roboto" panose="02000000000000000000" pitchFamily="2" charset="0"/>
            </a:endParaRPr>
          </a:p>
        </p:txBody>
      </p:sp>
      <p:sp>
        <p:nvSpPr>
          <p:cNvPr id="8" name="Text 5"/>
          <p:cNvSpPr/>
          <p:nvPr/>
        </p:nvSpPr>
        <p:spPr>
          <a:xfrm>
            <a:off x="10810875" y="3195995"/>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Roboto" panose="02000000000000000000" pitchFamily="2" charset="0"/>
                <a:ea typeface="Roboto" panose="02000000000000000000" pitchFamily="2" charset="0"/>
                <a:cs typeface="Roboto" panose="02000000000000000000" pitchFamily="2" charset="0"/>
              </a:rPr>
              <a:t>Decision Time</a:t>
            </a:r>
            <a:endParaRPr lang="en-US" sz="1950" dirty="0">
              <a:latin typeface="Roboto" panose="02000000000000000000" pitchFamily="2" charset="0"/>
              <a:ea typeface="Roboto" panose="02000000000000000000" pitchFamily="2" charset="0"/>
              <a:cs typeface="Roboto" panose="02000000000000000000" pitchFamily="2" charset="0"/>
            </a:endParaRPr>
          </a:p>
        </p:txBody>
      </p:sp>
      <p:sp>
        <p:nvSpPr>
          <p:cNvPr id="9" name="Text 6"/>
          <p:cNvSpPr/>
          <p:nvPr/>
        </p:nvSpPr>
        <p:spPr>
          <a:xfrm>
            <a:off x="10166866" y="3610332"/>
            <a:ext cx="3768923" cy="297656"/>
          </a:xfrm>
          <a:prstGeom prst="rect">
            <a:avLst/>
          </a:prstGeom>
          <a:noFill/>
          <a:ln/>
        </p:spPr>
        <p:txBody>
          <a:bodyPr wrap="none" lIns="0" tIns="0" rIns="0" bIns="0" rtlCol="0" anchor="t"/>
          <a:lstStyle/>
          <a:p>
            <a:pPr marL="0" indent="0" algn="ctr">
              <a:lnSpc>
                <a:spcPts val="2300"/>
              </a:lnSpc>
              <a:buNone/>
            </a:pPr>
            <a:r>
              <a:rPr lang="en-US" sz="1550" dirty="0">
                <a:solidFill>
                  <a:srgbClr val="E5E0DF"/>
                </a:solidFill>
                <a:latin typeface="Roboto" panose="02000000000000000000" pitchFamily="2" charset="0"/>
                <a:ea typeface="Roboto" panose="02000000000000000000" pitchFamily="2" charset="0"/>
                <a:cs typeface="Roboto" panose="02000000000000000000" pitchFamily="2" charset="0"/>
              </a:rPr>
              <a:t>Updated UI showing </a:t>
            </a:r>
            <a:r>
              <a:rPr lang="en-US" sz="1550" b="1" dirty="0">
                <a:solidFill>
                  <a:srgbClr val="E5E0DF"/>
                </a:solidFill>
                <a:latin typeface="Roboto" panose="02000000000000000000" pitchFamily="2" charset="0"/>
                <a:ea typeface="Roboto" panose="02000000000000000000" pitchFamily="2" charset="0"/>
                <a:cs typeface="Roboto" panose="02000000000000000000" pitchFamily="2" charset="0"/>
              </a:rPr>
              <a:t>"Decision Time: 5ms"</a:t>
            </a:r>
            <a:r>
              <a:rPr lang="en-US" sz="1550" dirty="0">
                <a:solidFill>
                  <a:srgbClr val="E5E0DF"/>
                </a:solidFill>
                <a:latin typeface="Roboto" panose="02000000000000000000" pitchFamily="2" charset="0"/>
                <a:ea typeface="Roboto" panose="02000000000000000000" pitchFamily="2" charset="0"/>
                <a:cs typeface="Roboto" panose="02000000000000000000" pitchFamily="2" charset="0"/>
              </a:rPr>
              <a:t>.</a:t>
            </a:r>
            <a:endParaRPr lang="en-US" sz="1550" dirty="0">
              <a:latin typeface="Roboto" panose="02000000000000000000" pitchFamily="2" charset="0"/>
              <a:ea typeface="Roboto" panose="02000000000000000000" pitchFamily="2" charset="0"/>
              <a:cs typeface="Roboto" panose="02000000000000000000" pitchFamily="2" charset="0"/>
            </a:endParaRPr>
          </a:p>
        </p:txBody>
      </p:sp>
      <p:sp>
        <p:nvSpPr>
          <p:cNvPr id="10" name="Text 7"/>
          <p:cNvSpPr/>
          <p:nvPr/>
        </p:nvSpPr>
        <p:spPr>
          <a:xfrm>
            <a:off x="8173879" y="4652129"/>
            <a:ext cx="3768923"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Roboto" panose="02000000000000000000" pitchFamily="2" charset="0"/>
                <a:ea typeface="Roboto" panose="02000000000000000000" pitchFamily="2" charset="0"/>
                <a:cs typeface="Roboto" panose="02000000000000000000" pitchFamily="2" charset="0"/>
              </a:rPr>
              <a:t>20k</a:t>
            </a:r>
            <a:endParaRPr lang="en-US" sz="5150" dirty="0">
              <a:latin typeface="Roboto" panose="02000000000000000000" pitchFamily="2" charset="0"/>
              <a:ea typeface="Roboto" panose="02000000000000000000" pitchFamily="2" charset="0"/>
              <a:cs typeface="Roboto" panose="02000000000000000000" pitchFamily="2" charset="0"/>
            </a:endParaRPr>
          </a:p>
        </p:txBody>
      </p:sp>
      <p:sp>
        <p:nvSpPr>
          <p:cNvPr id="11" name="Text 8"/>
          <p:cNvSpPr/>
          <p:nvPr/>
        </p:nvSpPr>
        <p:spPr>
          <a:xfrm>
            <a:off x="8817888" y="5536406"/>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Roboto" panose="02000000000000000000" pitchFamily="2" charset="0"/>
                <a:ea typeface="Roboto" panose="02000000000000000000" pitchFamily="2" charset="0"/>
                <a:cs typeface="Roboto" panose="02000000000000000000" pitchFamily="2" charset="0"/>
              </a:rPr>
              <a:t>Rows for Stability</a:t>
            </a:r>
            <a:endParaRPr lang="en-US" sz="1950" dirty="0">
              <a:latin typeface="Roboto" panose="02000000000000000000" pitchFamily="2" charset="0"/>
              <a:ea typeface="Roboto" panose="02000000000000000000" pitchFamily="2" charset="0"/>
              <a:cs typeface="Roboto" panose="02000000000000000000" pitchFamily="2" charset="0"/>
            </a:endParaRPr>
          </a:p>
        </p:txBody>
      </p:sp>
      <p:sp>
        <p:nvSpPr>
          <p:cNvPr id="12" name="Text 9"/>
          <p:cNvSpPr/>
          <p:nvPr/>
        </p:nvSpPr>
        <p:spPr>
          <a:xfrm>
            <a:off x="8173879" y="5950744"/>
            <a:ext cx="3768923" cy="595313"/>
          </a:xfrm>
          <a:prstGeom prst="rect">
            <a:avLst/>
          </a:prstGeom>
          <a:noFill/>
          <a:ln/>
        </p:spPr>
        <p:txBody>
          <a:bodyPr wrap="square" lIns="0" tIns="0" rIns="0" bIns="0" rtlCol="0" anchor="t"/>
          <a:lstStyle/>
          <a:p>
            <a:pPr marL="0" indent="0" algn="ctr">
              <a:lnSpc>
                <a:spcPts val="2300"/>
              </a:lnSpc>
              <a:buNone/>
            </a:pPr>
            <a:r>
              <a:rPr lang="en-US" sz="1550" dirty="0">
                <a:solidFill>
                  <a:srgbClr val="E5E0DF"/>
                </a:solidFill>
                <a:latin typeface="Roboto" panose="02000000000000000000" pitchFamily="2" charset="0"/>
                <a:ea typeface="Roboto" panose="02000000000000000000" pitchFamily="2" charset="0"/>
                <a:cs typeface="Roboto" panose="02000000000000000000" pitchFamily="2" charset="0"/>
              </a:rPr>
              <a:t>Learning curves show model stability after 20k rows, indicating high data coverage.</a:t>
            </a:r>
            <a:endParaRPr lang="en-US" sz="1550" dirty="0">
              <a:latin typeface="Roboto" panose="02000000000000000000" pitchFamily="2" charset="0"/>
              <a:ea typeface="Roboto" panose="02000000000000000000" pitchFamily="2" charset="0"/>
              <a:cs typeface="Roboto" panose="02000000000000000000" pitchFamily="2" charset="0"/>
            </a:endParaRPr>
          </a:p>
        </p:txBody>
      </p:sp>
      <p:sp>
        <p:nvSpPr>
          <p:cNvPr id="13" name="Shape 10"/>
          <p:cNvSpPr/>
          <p:nvPr/>
        </p:nvSpPr>
        <p:spPr>
          <a:xfrm>
            <a:off x="6181011" y="6741319"/>
            <a:ext cx="7754779" cy="776168"/>
          </a:xfrm>
          <a:prstGeom prst="roundRect">
            <a:avLst>
              <a:gd name="adj" fmla="val 10740"/>
            </a:avLst>
          </a:prstGeom>
          <a:solidFill>
            <a:srgbClr val="252528"/>
          </a:solidFill>
          <a:ln/>
        </p:spPr>
      </p:sp>
      <p:pic>
        <p:nvPicPr>
          <p:cNvPr id="14" name="Image 1" descr="preencoded.png"/>
          <p:cNvPicPr>
            <a:picLocks noChangeAspect="1"/>
          </p:cNvPicPr>
          <p:nvPr/>
        </p:nvPicPr>
        <p:blipFill>
          <a:blip r:embed="rId3"/>
          <a:stretch>
            <a:fillRect/>
          </a:stretch>
        </p:blipFill>
        <p:spPr>
          <a:xfrm>
            <a:off x="6379369" y="7028974"/>
            <a:ext cx="248007" cy="198358"/>
          </a:xfrm>
          <a:prstGeom prst="rect">
            <a:avLst/>
          </a:prstGeom>
        </p:spPr>
      </p:pic>
      <p:sp>
        <p:nvSpPr>
          <p:cNvPr id="15" name="Text 11"/>
          <p:cNvSpPr/>
          <p:nvPr/>
        </p:nvSpPr>
        <p:spPr>
          <a:xfrm>
            <a:off x="6825734" y="6964442"/>
            <a:ext cx="6911697" cy="297656"/>
          </a:xfrm>
          <a:prstGeom prst="rect">
            <a:avLst/>
          </a:prstGeom>
          <a:noFill/>
          <a:ln/>
        </p:spPr>
        <p:txBody>
          <a:bodyPr wrap="none" lIns="0" tIns="0" rIns="0" bIns="0" rtlCol="0" anchor="t"/>
          <a:lstStyle/>
          <a:p>
            <a:pPr marL="0" indent="0" algn="l">
              <a:lnSpc>
                <a:spcPts val="2300"/>
              </a:lnSpc>
              <a:buNone/>
            </a:pPr>
            <a:r>
              <a:rPr lang="en-US" sz="1550" b="1" dirty="0">
                <a:solidFill>
                  <a:srgbClr val="FFFFFF"/>
                </a:solidFill>
                <a:latin typeface="Roboto" panose="02000000000000000000" pitchFamily="2" charset="0"/>
                <a:ea typeface="Roboto" panose="02000000000000000000" pitchFamily="2" charset="0"/>
                <a:cs typeface="Roboto" panose="02000000000000000000" pitchFamily="2" charset="0"/>
              </a:rPr>
              <a:t>Throughput:</a:t>
            </a:r>
            <a:r>
              <a:rPr lang="en-US" sz="1550" dirty="0">
                <a:solidFill>
                  <a:srgbClr val="FFFFFF"/>
                </a:solidFill>
                <a:latin typeface="Roboto" panose="02000000000000000000" pitchFamily="2" charset="0"/>
                <a:ea typeface="Roboto" panose="02000000000000000000" pitchFamily="2" charset="0"/>
                <a:cs typeface="Roboto" panose="02000000000000000000" pitchFamily="2" charset="0"/>
              </a:rPr>
              <a:t> Scalable cloud-deployed FastAPI endpoint.</a:t>
            </a:r>
            <a:endParaRPr lang="en-US" sz="1550" dirty="0">
              <a:latin typeface="Roboto" panose="02000000000000000000" pitchFamily="2" charset="0"/>
              <a:ea typeface="Roboto" panose="02000000000000000000" pitchFamily="2" charset="0"/>
              <a:cs typeface="Roboto" panose="02000000000000000000" pitchFamily="2" charset="0"/>
            </a:endParaRPr>
          </a:p>
        </p:txBody>
      </p:sp>
      <p:pic>
        <p:nvPicPr>
          <p:cNvPr id="17" name="Picture 16">
            <a:extLst>
              <a:ext uri="{FF2B5EF4-FFF2-40B4-BE49-F238E27FC236}">
                <a16:creationId xmlns:a16="http://schemas.microsoft.com/office/drawing/2014/main" id="{CA412980-D459-C00B-BA35-D469FAF93FA6}"/>
              </a:ext>
            </a:extLst>
          </p:cNvPr>
          <p:cNvPicPr>
            <a:picLocks noChangeAspect="1"/>
          </p:cNvPicPr>
          <p:nvPr/>
        </p:nvPicPr>
        <p:blipFill>
          <a:blip r:embed="rId4"/>
          <a:stretch>
            <a:fillRect/>
          </a:stretch>
        </p:blipFill>
        <p:spPr>
          <a:xfrm>
            <a:off x="0" y="0"/>
            <a:ext cx="5812513"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6509" y="437971"/>
            <a:ext cx="12948880" cy="686633"/>
          </a:xfrm>
          <a:prstGeom prst="rect">
            <a:avLst/>
          </a:prstGeom>
          <a:noFill/>
          <a:ln/>
        </p:spPr>
        <p:txBody>
          <a:bodyPr wrap="none" lIns="0" tIns="0" rIns="0" bIns="0" rtlCol="0" anchor="t"/>
          <a:lstStyle/>
          <a:p>
            <a:pPr marL="0" indent="0" algn="l">
              <a:lnSpc>
                <a:spcPts val="5400"/>
              </a:lnSpc>
              <a:buNone/>
            </a:pPr>
            <a:r>
              <a:rPr lang="en-US" sz="4300" dirty="0">
                <a:solidFill>
                  <a:srgbClr val="F2F2F3"/>
                </a:solidFill>
                <a:latin typeface="Roboto" panose="02000000000000000000" pitchFamily="2" charset="0"/>
                <a:ea typeface="Roboto" panose="02000000000000000000" pitchFamily="2" charset="0"/>
                <a:cs typeface="Roboto" panose="02000000000000000000" pitchFamily="2" charset="0"/>
              </a:rPr>
              <a:t>Tuning: Addressing the "Border-Zone" Challenge</a:t>
            </a:r>
            <a:endParaRPr lang="en-US" sz="4300" dirty="0">
              <a:latin typeface="Roboto" panose="02000000000000000000" pitchFamily="2" charset="0"/>
              <a:ea typeface="Roboto" panose="02000000000000000000" pitchFamily="2" charset="0"/>
              <a:cs typeface="Roboto" panose="02000000000000000000" pitchFamily="2" charset="0"/>
            </a:endParaRPr>
          </a:p>
        </p:txBody>
      </p:sp>
      <p:pic>
        <p:nvPicPr>
          <p:cNvPr id="3" name="Image 0" descr="preencoded.png"/>
          <p:cNvPicPr>
            <a:picLocks noChangeAspect="1"/>
          </p:cNvPicPr>
          <p:nvPr/>
        </p:nvPicPr>
        <p:blipFill>
          <a:blip r:embed="rId3"/>
          <a:stretch>
            <a:fillRect/>
          </a:stretch>
        </p:blipFill>
        <p:spPr>
          <a:xfrm>
            <a:off x="769025" y="2026563"/>
            <a:ext cx="8322350" cy="5182195"/>
          </a:xfrm>
          <a:prstGeom prst="rect">
            <a:avLst/>
          </a:prstGeom>
        </p:spPr>
      </p:pic>
      <p:sp>
        <p:nvSpPr>
          <p:cNvPr id="4" name="Text 1"/>
          <p:cNvSpPr/>
          <p:nvPr/>
        </p:nvSpPr>
        <p:spPr>
          <a:xfrm>
            <a:off x="9403520" y="2008014"/>
            <a:ext cx="4457855" cy="686514"/>
          </a:xfrm>
          <a:prstGeom prst="rect">
            <a:avLst/>
          </a:prstGeom>
          <a:noFill/>
          <a:ln/>
        </p:spPr>
        <p:txBody>
          <a:bodyPr wrap="square" lIns="0" tIns="0" rIns="0" bIns="0" rtlCol="0" anchor="t"/>
          <a:lstStyle/>
          <a:p>
            <a:pPr marL="0" indent="0" algn="l">
              <a:buNone/>
            </a:pPr>
            <a:r>
              <a:rPr lang="en-US" sz="2800" dirty="0">
                <a:solidFill>
                  <a:srgbClr val="F2F2F3"/>
                </a:solidFill>
                <a:latin typeface="Roboto" panose="02000000000000000000" pitchFamily="2" charset="0"/>
                <a:ea typeface="Roboto" panose="02000000000000000000" pitchFamily="2" charset="0"/>
                <a:cs typeface="Roboto" panose="02000000000000000000" pitchFamily="2" charset="0"/>
              </a:rPr>
              <a:t>The Dublin-Amsterdam Paradox</a:t>
            </a:r>
            <a:endParaRPr lang="en-US" sz="2800" dirty="0">
              <a:latin typeface="Roboto" panose="02000000000000000000" pitchFamily="2" charset="0"/>
              <a:ea typeface="Roboto" panose="02000000000000000000" pitchFamily="2" charset="0"/>
              <a:cs typeface="Roboto" panose="02000000000000000000" pitchFamily="2" charset="0"/>
            </a:endParaRPr>
          </a:p>
        </p:txBody>
      </p:sp>
      <p:sp>
        <p:nvSpPr>
          <p:cNvPr id="5" name="Text 2"/>
          <p:cNvSpPr/>
          <p:nvPr/>
        </p:nvSpPr>
        <p:spPr>
          <a:xfrm>
            <a:off x="9403520" y="2907293"/>
            <a:ext cx="4457855" cy="1730573"/>
          </a:xfrm>
          <a:prstGeom prst="rect">
            <a:avLst/>
          </a:prstGeom>
          <a:noFill/>
          <a:ln/>
        </p:spPr>
        <p:txBody>
          <a:bodyPr wrap="square" lIns="0" tIns="0" rIns="0" bIns="0" rtlCol="0" anchor="t"/>
          <a:lstStyle/>
          <a:p>
            <a:pPr marL="0" indent="0" algn="l">
              <a:buNone/>
            </a:pP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Geographically close DCs (780km) cause the most confusion when health metrics are similar between DC 1 which is AWS EU-West-1 in Dublin and DC 3 which is Azure West-Europe in Amsterdam</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6" name="Text 3"/>
          <p:cNvSpPr/>
          <p:nvPr/>
        </p:nvSpPr>
        <p:spPr>
          <a:xfrm>
            <a:off x="9403520" y="5668450"/>
            <a:ext cx="2891964" cy="343257"/>
          </a:xfrm>
          <a:prstGeom prst="rect">
            <a:avLst/>
          </a:prstGeom>
          <a:noFill/>
          <a:ln/>
        </p:spPr>
        <p:txBody>
          <a:bodyPr wrap="none" lIns="0" tIns="0" rIns="0" bIns="0" rtlCol="0" anchor="t"/>
          <a:lstStyle/>
          <a:p>
            <a:pPr marL="0" indent="0" algn="l">
              <a:buNone/>
            </a:pPr>
            <a:r>
              <a:rPr lang="en-US" sz="2800" dirty="0">
                <a:solidFill>
                  <a:srgbClr val="F2F2F3"/>
                </a:solidFill>
                <a:latin typeface="Roboto" panose="02000000000000000000" pitchFamily="2" charset="0"/>
                <a:ea typeface="Roboto" panose="02000000000000000000" pitchFamily="2" charset="0"/>
                <a:cs typeface="Roboto" panose="02000000000000000000" pitchFamily="2" charset="0"/>
              </a:rPr>
              <a:t>Mitigation</a:t>
            </a:r>
            <a:endParaRPr lang="en-US" sz="2800" dirty="0">
              <a:latin typeface="Roboto" panose="02000000000000000000" pitchFamily="2" charset="0"/>
              <a:ea typeface="Roboto" panose="02000000000000000000" pitchFamily="2" charset="0"/>
              <a:cs typeface="Roboto" panose="02000000000000000000" pitchFamily="2" charset="0"/>
            </a:endParaRPr>
          </a:p>
        </p:txBody>
      </p:sp>
      <p:sp>
        <p:nvSpPr>
          <p:cNvPr id="7" name="Text 4"/>
          <p:cNvSpPr/>
          <p:nvPr/>
        </p:nvSpPr>
        <p:spPr>
          <a:xfrm>
            <a:off x="9403520" y="6224472"/>
            <a:ext cx="4457855" cy="1038344"/>
          </a:xfrm>
          <a:prstGeom prst="rect">
            <a:avLst/>
          </a:prstGeom>
          <a:noFill/>
          <a:ln/>
        </p:spPr>
        <p:txBody>
          <a:bodyPr wrap="square" lIns="0" tIns="0" rIns="0" bIns="0" rtlCol="0" anchor="t"/>
          <a:lstStyle/>
          <a:p>
            <a:pPr marL="0" indent="0" algn="l">
              <a:buNone/>
            </a:pP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In these "border cases," routing score differences narrow to </a:t>
            </a:r>
            <a:r>
              <a:rPr lang="en-US" sz="2000" b="1" dirty="0">
                <a:solidFill>
                  <a:srgbClr val="E5E0DF"/>
                </a:solidFill>
                <a:latin typeface="Roboto" panose="02000000000000000000" pitchFamily="2" charset="0"/>
                <a:ea typeface="Roboto" panose="02000000000000000000" pitchFamily="2" charset="0"/>
                <a:cs typeface="Roboto" panose="02000000000000000000" pitchFamily="2" charset="0"/>
              </a:rPr>
              <a:t>&lt;5%</a:t>
            </a:r>
            <a:r>
              <a:rPr lang="en-US" sz="2000" dirty="0">
                <a:solidFill>
                  <a:srgbClr val="E5E0DF"/>
                </a:solidFill>
                <a:latin typeface="Roboto" panose="02000000000000000000" pitchFamily="2" charset="0"/>
                <a:ea typeface="Roboto" panose="02000000000000000000" pitchFamily="2" charset="0"/>
                <a:cs typeface="Roboto" panose="02000000000000000000" pitchFamily="2" charset="0"/>
              </a:rPr>
              <a:t>, showing the physical limit of predictive routing.</a:t>
            </a:r>
            <a:endParaRPr lang="en-US" sz="20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b="10269"/>
          <a:stretch>
            <a:fillRect/>
          </a:stretch>
        </p:blipFill>
        <p:spPr>
          <a:xfrm>
            <a:off x="9144000" y="0"/>
            <a:ext cx="5486400" cy="8229600"/>
          </a:xfrm>
          <a:prstGeom prst="rect">
            <a:avLst/>
          </a:prstGeom>
        </p:spPr>
      </p:pic>
      <p:sp>
        <p:nvSpPr>
          <p:cNvPr id="3" name="Text 0"/>
          <p:cNvSpPr/>
          <p:nvPr/>
        </p:nvSpPr>
        <p:spPr>
          <a:xfrm>
            <a:off x="769025" y="1006912"/>
            <a:ext cx="7605951" cy="1373267"/>
          </a:xfrm>
          <a:prstGeom prst="rect">
            <a:avLst/>
          </a:prstGeom>
          <a:noFill/>
          <a:ln/>
        </p:spPr>
        <p:txBody>
          <a:bodyPr wrap="square" lIns="0" tIns="0" rIns="0" bIns="0" rtlCol="0" anchor="t"/>
          <a:lstStyle/>
          <a:p>
            <a:pPr marL="0" indent="0" algn="l">
              <a:lnSpc>
                <a:spcPts val="5400"/>
              </a:lnSpc>
              <a:buNone/>
            </a:pPr>
            <a:r>
              <a:rPr lang="en-US" sz="4300" dirty="0">
                <a:solidFill>
                  <a:srgbClr val="F2F2F3"/>
                </a:solidFill>
                <a:latin typeface="Roboto" panose="02000000000000000000" pitchFamily="2" charset="0"/>
                <a:ea typeface="Roboto" panose="02000000000000000000" pitchFamily="2" charset="0"/>
                <a:cs typeface="Roboto" panose="02000000000000000000" pitchFamily="2" charset="0"/>
              </a:rPr>
              <a:t>Future Scope: The Road to Autonomous Cloud Routing</a:t>
            </a:r>
            <a:endParaRPr lang="en-US" sz="4300" dirty="0">
              <a:latin typeface="Roboto" panose="02000000000000000000" pitchFamily="2" charset="0"/>
              <a:ea typeface="Roboto" panose="02000000000000000000" pitchFamily="2" charset="0"/>
              <a:cs typeface="Roboto" panose="02000000000000000000" pitchFamily="2" charset="0"/>
            </a:endParaRPr>
          </a:p>
        </p:txBody>
      </p:sp>
      <p:pic>
        <p:nvPicPr>
          <p:cNvPr id="4" name="Image 1" descr="preencoded.png"/>
          <p:cNvPicPr>
            <a:picLocks noChangeAspect="1"/>
          </p:cNvPicPr>
          <p:nvPr/>
        </p:nvPicPr>
        <p:blipFill>
          <a:blip r:embed="rId4"/>
          <a:stretch>
            <a:fillRect/>
          </a:stretch>
        </p:blipFill>
        <p:spPr>
          <a:xfrm>
            <a:off x="769025" y="2699385"/>
            <a:ext cx="1098590" cy="1318379"/>
          </a:xfrm>
          <a:prstGeom prst="rect">
            <a:avLst/>
          </a:prstGeom>
        </p:spPr>
      </p:pic>
      <p:sp>
        <p:nvSpPr>
          <p:cNvPr id="5" name="Text 1"/>
          <p:cNvSpPr/>
          <p:nvPr/>
        </p:nvSpPr>
        <p:spPr>
          <a:xfrm>
            <a:off x="2080379" y="2919055"/>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E5E0DF"/>
                </a:solidFill>
                <a:latin typeface="Roboto" panose="02000000000000000000" pitchFamily="2" charset="0"/>
                <a:ea typeface="Roboto" panose="02000000000000000000" pitchFamily="2" charset="0"/>
                <a:cs typeface="Roboto" panose="02000000000000000000" pitchFamily="2" charset="0"/>
              </a:rPr>
              <a:t>Online Learning</a:t>
            </a:r>
            <a:endParaRPr lang="en-US" sz="2150" dirty="0">
              <a:latin typeface="Roboto" panose="02000000000000000000" pitchFamily="2" charset="0"/>
              <a:ea typeface="Roboto" panose="02000000000000000000" pitchFamily="2" charset="0"/>
              <a:cs typeface="Roboto" panose="02000000000000000000" pitchFamily="2" charset="0"/>
            </a:endParaRPr>
          </a:p>
        </p:txBody>
      </p:sp>
      <p:sp>
        <p:nvSpPr>
          <p:cNvPr id="6" name="Text 2"/>
          <p:cNvSpPr/>
          <p:nvPr/>
        </p:nvSpPr>
        <p:spPr>
          <a:xfrm>
            <a:off x="2080379" y="3389947"/>
            <a:ext cx="6294596" cy="346115"/>
          </a:xfrm>
          <a:prstGeom prst="rect">
            <a:avLst/>
          </a:prstGeom>
          <a:noFill/>
          <a:ln/>
        </p:spPr>
        <p:txBody>
          <a:bodyPr wrap="none" lIns="0" tIns="0" rIns="0" bIns="0" rtlCol="0" anchor="t"/>
          <a:lstStyle/>
          <a:p>
            <a:pPr marL="0" indent="0" algn="l">
              <a:lnSpc>
                <a:spcPts val="2700"/>
              </a:lnSpc>
              <a:buNone/>
            </a:pPr>
            <a:r>
              <a:rPr lang="en-US" sz="1700" dirty="0">
                <a:solidFill>
                  <a:srgbClr val="E5E0DF"/>
                </a:solidFill>
                <a:latin typeface="Roboto" panose="02000000000000000000" pitchFamily="2" charset="0"/>
                <a:ea typeface="Roboto" panose="02000000000000000000" pitchFamily="2" charset="0"/>
                <a:cs typeface="Roboto" panose="02000000000000000000" pitchFamily="2" charset="0"/>
              </a:rPr>
              <a:t>Moving from batch to continuous environment interaction.</a:t>
            </a:r>
            <a:endParaRPr lang="en-US" sz="1700" dirty="0">
              <a:latin typeface="Roboto" panose="02000000000000000000" pitchFamily="2" charset="0"/>
              <a:ea typeface="Roboto" panose="02000000000000000000" pitchFamily="2" charset="0"/>
              <a:cs typeface="Roboto" panose="02000000000000000000" pitchFamily="2" charset="0"/>
            </a:endParaRPr>
          </a:p>
        </p:txBody>
      </p:sp>
      <p:pic>
        <p:nvPicPr>
          <p:cNvPr id="7" name="Image 2" descr="preencoded.png"/>
          <p:cNvPicPr>
            <a:picLocks noChangeAspect="1"/>
          </p:cNvPicPr>
          <p:nvPr/>
        </p:nvPicPr>
        <p:blipFill>
          <a:blip r:embed="rId5"/>
          <a:stretch>
            <a:fillRect/>
          </a:stretch>
        </p:blipFill>
        <p:spPr>
          <a:xfrm>
            <a:off x="769025" y="4017764"/>
            <a:ext cx="1098590" cy="1602462"/>
          </a:xfrm>
          <a:prstGeom prst="rect">
            <a:avLst/>
          </a:prstGeom>
        </p:spPr>
      </p:pic>
      <p:sp>
        <p:nvSpPr>
          <p:cNvPr id="8" name="Text 3"/>
          <p:cNvSpPr/>
          <p:nvPr/>
        </p:nvSpPr>
        <p:spPr>
          <a:xfrm>
            <a:off x="2080379" y="4237434"/>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E5E0DF"/>
                </a:solidFill>
                <a:latin typeface="Roboto" panose="02000000000000000000" pitchFamily="2" charset="0"/>
                <a:ea typeface="Roboto" panose="02000000000000000000" pitchFamily="2" charset="0"/>
                <a:cs typeface="Roboto" panose="02000000000000000000" pitchFamily="2" charset="0"/>
              </a:rPr>
              <a:t>Cost Signals</a:t>
            </a:r>
            <a:endParaRPr lang="en-US" sz="2150" dirty="0">
              <a:latin typeface="Roboto" panose="02000000000000000000" pitchFamily="2" charset="0"/>
              <a:ea typeface="Roboto" panose="02000000000000000000" pitchFamily="2" charset="0"/>
              <a:cs typeface="Roboto" panose="02000000000000000000" pitchFamily="2" charset="0"/>
            </a:endParaRPr>
          </a:p>
        </p:txBody>
      </p:sp>
      <p:sp>
        <p:nvSpPr>
          <p:cNvPr id="9" name="Text 4"/>
          <p:cNvSpPr/>
          <p:nvPr/>
        </p:nvSpPr>
        <p:spPr>
          <a:xfrm>
            <a:off x="2080379" y="4708327"/>
            <a:ext cx="6294596" cy="692229"/>
          </a:xfrm>
          <a:prstGeom prst="rect">
            <a:avLst/>
          </a:prstGeom>
          <a:noFill/>
          <a:ln/>
        </p:spPr>
        <p:txBody>
          <a:bodyPr wrap="square" lIns="0" tIns="0" rIns="0" bIns="0" rtlCol="0" anchor="t"/>
          <a:lstStyle/>
          <a:p>
            <a:pPr marL="0" indent="0" algn="l">
              <a:lnSpc>
                <a:spcPts val="2700"/>
              </a:lnSpc>
              <a:buNone/>
            </a:pPr>
            <a:r>
              <a:rPr lang="en-US" sz="1700" dirty="0">
                <a:solidFill>
                  <a:srgbClr val="E5E0DF"/>
                </a:solidFill>
                <a:latin typeface="Roboto" panose="02000000000000000000" pitchFamily="2" charset="0"/>
                <a:ea typeface="Roboto" panose="02000000000000000000" pitchFamily="2" charset="0"/>
                <a:cs typeface="Roboto" panose="02000000000000000000" pitchFamily="2" charset="0"/>
              </a:rPr>
              <a:t>Integrating cloud egress costs as a secondary optimization objective.</a:t>
            </a:r>
            <a:endParaRPr lang="en-US" sz="1700" dirty="0">
              <a:latin typeface="Roboto" panose="02000000000000000000" pitchFamily="2" charset="0"/>
              <a:ea typeface="Roboto" panose="02000000000000000000" pitchFamily="2" charset="0"/>
              <a:cs typeface="Roboto" panose="02000000000000000000" pitchFamily="2" charset="0"/>
            </a:endParaRPr>
          </a:p>
        </p:txBody>
      </p:sp>
      <p:pic>
        <p:nvPicPr>
          <p:cNvPr id="10" name="Image 3" descr="preencoded.png"/>
          <p:cNvPicPr>
            <a:picLocks noChangeAspect="1"/>
          </p:cNvPicPr>
          <p:nvPr/>
        </p:nvPicPr>
        <p:blipFill>
          <a:blip r:embed="rId6"/>
          <a:stretch>
            <a:fillRect/>
          </a:stretch>
        </p:blipFill>
        <p:spPr>
          <a:xfrm>
            <a:off x="769025" y="5620226"/>
            <a:ext cx="1098590" cy="1602462"/>
          </a:xfrm>
          <a:prstGeom prst="rect">
            <a:avLst/>
          </a:prstGeom>
        </p:spPr>
      </p:pic>
      <p:sp>
        <p:nvSpPr>
          <p:cNvPr id="11" name="Text 5"/>
          <p:cNvSpPr/>
          <p:nvPr/>
        </p:nvSpPr>
        <p:spPr>
          <a:xfrm>
            <a:off x="2080379" y="5839897"/>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E5E0DF"/>
                </a:solidFill>
                <a:latin typeface="Roboto" panose="02000000000000000000" pitchFamily="2" charset="0"/>
                <a:ea typeface="Roboto" panose="02000000000000000000" pitchFamily="2" charset="0"/>
                <a:cs typeface="Roboto" panose="02000000000000000000" pitchFamily="2" charset="0"/>
              </a:rPr>
              <a:t>Final Impact</a:t>
            </a:r>
            <a:endParaRPr lang="en-US" sz="2150" dirty="0">
              <a:latin typeface="Roboto" panose="02000000000000000000" pitchFamily="2" charset="0"/>
              <a:ea typeface="Roboto" panose="02000000000000000000" pitchFamily="2" charset="0"/>
              <a:cs typeface="Roboto" panose="02000000000000000000" pitchFamily="2" charset="0"/>
            </a:endParaRPr>
          </a:p>
        </p:txBody>
      </p:sp>
      <p:sp>
        <p:nvSpPr>
          <p:cNvPr id="12" name="Text 6"/>
          <p:cNvSpPr/>
          <p:nvPr/>
        </p:nvSpPr>
        <p:spPr>
          <a:xfrm>
            <a:off x="2080379" y="6310789"/>
            <a:ext cx="6294596" cy="692229"/>
          </a:xfrm>
          <a:prstGeom prst="rect">
            <a:avLst/>
          </a:prstGeom>
          <a:noFill/>
          <a:ln/>
        </p:spPr>
        <p:txBody>
          <a:bodyPr wrap="square" lIns="0" tIns="0" rIns="0" bIns="0" rtlCol="0" anchor="t"/>
          <a:lstStyle/>
          <a:p>
            <a:pPr marL="0" indent="0" algn="l">
              <a:lnSpc>
                <a:spcPts val="2700"/>
              </a:lnSpc>
              <a:buNone/>
            </a:pPr>
            <a:r>
              <a:rPr lang="en-US" sz="1700" dirty="0">
                <a:solidFill>
                  <a:srgbClr val="E5E0DF"/>
                </a:solidFill>
                <a:latin typeface="Roboto" panose="02000000000000000000" pitchFamily="2" charset="0"/>
                <a:ea typeface="Roboto" panose="02000000000000000000" pitchFamily="2" charset="0"/>
                <a:cs typeface="Roboto" panose="02000000000000000000" pitchFamily="2" charset="0"/>
              </a:rPr>
              <a:t>A robust, interpretable and production-ready system for multi cloud efficiency.</a:t>
            </a:r>
            <a:endParaRPr lang="en-US" sz="17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5288" y="473404"/>
            <a:ext cx="7922181" cy="476250"/>
          </a:xfrm>
          <a:prstGeom prst="rect">
            <a:avLst/>
          </a:prstGeom>
          <a:noFill/>
          <a:ln/>
        </p:spPr>
        <p:txBody>
          <a:bodyPr wrap="none" lIns="0" tIns="0" rIns="0" bIns="0" rtlCol="0" anchor="t"/>
          <a:lstStyle/>
          <a:p>
            <a:pPr marL="0" indent="0" algn="l">
              <a:lnSpc>
                <a:spcPts val="3750"/>
              </a:lnSpc>
              <a:buNone/>
            </a:pPr>
            <a:r>
              <a:rPr lang="en-US" sz="3200" dirty="0">
                <a:solidFill>
                  <a:srgbClr val="F2F2F3"/>
                </a:solidFill>
                <a:latin typeface="Roboto" panose="02000000000000000000" pitchFamily="2" charset="0"/>
                <a:ea typeface="Roboto" panose="02000000000000000000" pitchFamily="2" charset="0"/>
                <a:cs typeface="Roboto" panose="02000000000000000000" pitchFamily="2" charset="0"/>
              </a:rPr>
              <a:t>Cloud Deployment &amp; Performance Metrics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3" name="Text 1"/>
          <p:cNvSpPr/>
          <p:nvPr/>
        </p:nvSpPr>
        <p:spPr>
          <a:xfrm>
            <a:off x="1131092" y="1030193"/>
            <a:ext cx="10515600" cy="203835"/>
          </a:xfrm>
          <a:prstGeom prst="rect">
            <a:avLst/>
          </a:prstGeom>
          <a:noFill/>
          <a:ln/>
        </p:spPr>
        <p:txBody>
          <a:bodyPr wrap="none" lIns="0" tIns="0" rIns="0" bIns="0" rtlCol="0" anchor="t"/>
          <a:lstStyle/>
          <a:p>
            <a:pPr marL="0" indent="0" algn="l">
              <a:buNone/>
            </a:pPr>
            <a:r>
              <a:rPr lang="en-US" sz="2400" b="1" dirty="0">
                <a:solidFill>
                  <a:srgbClr val="E5E0DF"/>
                </a:solidFill>
                <a:latin typeface="Roboto" panose="02000000000000000000" pitchFamily="2" charset="0"/>
                <a:ea typeface="Roboto" panose="02000000000000000000" pitchFamily="2" charset="0"/>
                <a:cs typeface="Roboto" panose="02000000000000000000" pitchFamily="2" charset="0"/>
              </a:rPr>
              <a:t>System Architecture &amp; Deployment</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4" name="Text 2"/>
          <p:cNvSpPr/>
          <p:nvPr/>
        </p:nvSpPr>
        <p:spPr>
          <a:xfrm>
            <a:off x="2045256" y="1415659"/>
            <a:ext cx="10515600" cy="922853"/>
          </a:xfrm>
          <a:prstGeom prst="rect">
            <a:avLst/>
          </a:prstGeom>
          <a:noFill/>
          <a:ln/>
        </p:spPr>
        <p:txBody>
          <a:bodyPr wrap="square" lIns="0" tIns="0" rIns="0" bIns="0" rtlCol="0" anchor="t"/>
          <a:lstStyle/>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Backend:</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FastAPI application that loads trained artifacts on startup for real-time serving.</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The Pipeline:</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Predict endpoint processes JSON payloads through a mirrored training/cleaning pipeline to ensure data consistency.</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The Output:</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Returns the optimal Data Center, Cloud Provider, Region, and Probability score.</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Frontend:</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Modern, responsive dashboard built using React and Next.js.</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 name="Text 3"/>
          <p:cNvSpPr/>
          <p:nvPr/>
        </p:nvSpPr>
        <p:spPr>
          <a:xfrm>
            <a:off x="1133000" y="2842692"/>
            <a:ext cx="10515600" cy="203835"/>
          </a:xfrm>
          <a:prstGeom prst="rect">
            <a:avLst/>
          </a:prstGeom>
          <a:noFill/>
          <a:ln/>
        </p:spPr>
        <p:txBody>
          <a:bodyPr wrap="none" lIns="0" tIns="0" rIns="0" bIns="0" rtlCol="0" anchor="t"/>
          <a:lstStyle/>
          <a:p>
            <a:pPr marL="0" indent="0" algn="l">
              <a:buNone/>
            </a:pPr>
            <a:r>
              <a:rPr lang="en-US" sz="2400" b="1" dirty="0">
                <a:solidFill>
                  <a:srgbClr val="E5E0DF"/>
                </a:solidFill>
                <a:latin typeface="Roboto" panose="02000000000000000000" pitchFamily="2" charset="0"/>
                <a:ea typeface="Roboto" panose="02000000000000000000" pitchFamily="2" charset="0"/>
                <a:cs typeface="Roboto" panose="02000000000000000000" pitchFamily="2" charset="0"/>
              </a:rPr>
              <a:t>Measuring the Three Paradigms</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6" name="Text 4"/>
          <p:cNvSpPr/>
          <p:nvPr/>
        </p:nvSpPr>
        <p:spPr>
          <a:xfrm>
            <a:off x="2045256" y="3250063"/>
            <a:ext cx="10515600" cy="683181"/>
          </a:xfrm>
          <a:prstGeom prst="rect">
            <a:avLst/>
          </a:prstGeom>
          <a:noFill/>
          <a:ln/>
        </p:spPr>
        <p:txBody>
          <a:bodyPr wrap="square" lIns="0" tIns="0" rIns="0" bIns="0" rtlCol="0" anchor="t"/>
          <a:lstStyle/>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Performance:</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Measured via Test Accuracy and Macro-F1 (ensuring no regional bias across all 5 classes).</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Scalability:</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Validated through Training Time and Throughput (predictions per second).</a:t>
            </a: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buSzPct val="100000"/>
              <a:buChar char="•"/>
            </a:pPr>
            <a:r>
              <a:rPr lang="en-US" b="1" dirty="0">
                <a:solidFill>
                  <a:srgbClr val="E5E0DF"/>
                </a:solidFill>
                <a:latin typeface="Roboto" panose="02000000000000000000" pitchFamily="2" charset="0"/>
                <a:ea typeface="Roboto" panose="02000000000000000000" pitchFamily="2" charset="0"/>
                <a:cs typeface="Roboto" panose="02000000000000000000" pitchFamily="2" charset="0"/>
              </a:rPr>
              <a:t>Latency:</a:t>
            </a:r>
            <a:r>
              <a:rPr lang="en-US" dirty="0">
                <a:solidFill>
                  <a:srgbClr val="E5E0DF"/>
                </a:solidFill>
                <a:latin typeface="Roboto" panose="02000000000000000000" pitchFamily="2" charset="0"/>
                <a:ea typeface="Roboto" panose="02000000000000000000" pitchFamily="2" charset="0"/>
                <a:cs typeface="Roboto" panose="02000000000000000000" pitchFamily="2" charset="0"/>
              </a:rPr>
              <a:t> Tracked via Inference Time (ms/batch) to ensure suitability for real-time routing.</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7" name="Text 5"/>
          <p:cNvSpPr/>
          <p:nvPr/>
        </p:nvSpPr>
        <p:spPr>
          <a:xfrm>
            <a:off x="1133000" y="4340316"/>
            <a:ext cx="10515600" cy="203835"/>
          </a:xfrm>
          <a:prstGeom prst="rect">
            <a:avLst/>
          </a:prstGeom>
          <a:noFill/>
          <a:ln/>
        </p:spPr>
        <p:txBody>
          <a:bodyPr wrap="none" lIns="0" tIns="0" rIns="0" bIns="0" rtlCol="0" anchor="t"/>
          <a:lstStyle/>
          <a:p>
            <a:pPr marL="0" indent="0" algn="l">
              <a:buNone/>
            </a:pPr>
            <a:r>
              <a:rPr lang="en-US" sz="2800" b="1" dirty="0">
                <a:solidFill>
                  <a:srgbClr val="E5E0DF"/>
                </a:solidFill>
                <a:latin typeface="Roboto" panose="02000000000000000000" pitchFamily="2" charset="0"/>
                <a:ea typeface="Roboto" panose="02000000000000000000" pitchFamily="2" charset="0"/>
                <a:cs typeface="Roboto" panose="02000000000000000000" pitchFamily="2" charset="0"/>
              </a:rPr>
              <a:t>Comparative Results Table</a:t>
            </a:r>
            <a:endParaRPr lang="en-US" sz="2800" dirty="0">
              <a:latin typeface="Roboto" panose="02000000000000000000" pitchFamily="2" charset="0"/>
              <a:ea typeface="Roboto" panose="02000000000000000000" pitchFamily="2" charset="0"/>
              <a:cs typeface="Roboto" panose="02000000000000000000" pitchFamily="2" charset="0"/>
            </a:endParaRPr>
          </a:p>
        </p:txBody>
      </p:sp>
      <p:sp>
        <p:nvSpPr>
          <p:cNvPr id="8" name="Shape 6"/>
          <p:cNvSpPr/>
          <p:nvPr/>
        </p:nvSpPr>
        <p:spPr>
          <a:xfrm>
            <a:off x="2049780" y="4746154"/>
            <a:ext cx="10515600" cy="3362325"/>
          </a:xfrm>
          <a:prstGeom prst="roundRect">
            <a:avLst>
              <a:gd name="adj" fmla="val 1904"/>
            </a:avLst>
          </a:prstGeom>
          <a:noFill/>
          <a:ln w="7620">
            <a:solidFill>
              <a:srgbClr val="FFFFFF">
                <a:alpha val="24000"/>
              </a:srgbClr>
            </a:solidFill>
            <a:prstDash val="solid"/>
          </a:ln>
        </p:spPr>
      </p:sp>
      <p:sp>
        <p:nvSpPr>
          <p:cNvPr id="9" name="Shape 7"/>
          <p:cNvSpPr/>
          <p:nvPr/>
        </p:nvSpPr>
        <p:spPr>
          <a:xfrm>
            <a:off x="2057400" y="4753774"/>
            <a:ext cx="10503456" cy="341948"/>
          </a:xfrm>
          <a:prstGeom prst="rect">
            <a:avLst/>
          </a:prstGeom>
          <a:solidFill>
            <a:srgbClr val="FFFFFF">
              <a:alpha val="4000"/>
            </a:srgbClr>
          </a:solidFill>
          <a:ln/>
        </p:spPr>
      </p:sp>
      <p:sp>
        <p:nvSpPr>
          <p:cNvPr id="10" name="Text 8"/>
          <p:cNvSpPr/>
          <p:nvPr/>
        </p:nvSpPr>
        <p:spPr>
          <a:xfrm>
            <a:off x="2210276" y="4822830"/>
            <a:ext cx="119181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Model</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1" name="Text 9"/>
          <p:cNvSpPr/>
          <p:nvPr/>
        </p:nvSpPr>
        <p:spPr>
          <a:xfrm>
            <a:off x="3714512" y="4822830"/>
            <a:ext cx="118800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Test Acc.</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2" name="Text 10"/>
          <p:cNvSpPr/>
          <p:nvPr/>
        </p:nvSpPr>
        <p:spPr>
          <a:xfrm>
            <a:off x="5214938" y="4822830"/>
            <a:ext cx="118800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F1 Macro</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3" name="Text 11"/>
          <p:cNvSpPr/>
          <p:nvPr/>
        </p:nvSpPr>
        <p:spPr>
          <a:xfrm>
            <a:off x="6715363" y="4822830"/>
            <a:ext cx="118800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CV Mean</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4" name="Text 12"/>
          <p:cNvSpPr/>
          <p:nvPr/>
        </p:nvSpPr>
        <p:spPr>
          <a:xfrm>
            <a:off x="8215789" y="4822830"/>
            <a:ext cx="118800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CV Std</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5" name="Text 13"/>
          <p:cNvSpPr/>
          <p:nvPr/>
        </p:nvSpPr>
        <p:spPr>
          <a:xfrm>
            <a:off x="9716214" y="4822830"/>
            <a:ext cx="118800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Train (s)</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6" name="Text 14"/>
          <p:cNvSpPr/>
          <p:nvPr/>
        </p:nvSpPr>
        <p:spPr>
          <a:xfrm>
            <a:off x="11216640" y="4822830"/>
            <a:ext cx="119181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Inf (ms)</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7" name="Shape 15"/>
          <p:cNvSpPr/>
          <p:nvPr/>
        </p:nvSpPr>
        <p:spPr>
          <a:xfrm>
            <a:off x="2057400" y="5095721"/>
            <a:ext cx="10503456" cy="545783"/>
          </a:xfrm>
          <a:prstGeom prst="rect">
            <a:avLst/>
          </a:prstGeom>
          <a:solidFill>
            <a:srgbClr val="000000">
              <a:alpha val="4000"/>
            </a:srgbClr>
          </a:solidFill>
          <a:ln/>
        </p:spPr>
      </p:sp>
      <p:sp>
        <p:nvSpPr>
          <p:cNvPr id="18" name="Text 16"/>
          <p:cNvSpPr/>
          <p:nvPr/>
        </p:nvSpPr>
        <p:spPr>
          <a:xfrm>
            <a:off x="2210276" y="5164777"/>
            <a:ext cx="1191816" cy="407670"/>
          </a:xfrm>
          <a:prstGeom prst="rect">
            <a:avLst/>
          </a:prstGeom>
          <a:noFill/>
          <a:ln/>
        </p:spPr>
        <p:txBody>
          <a:bodyPr wrap="squar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Dummy (Baseline)</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19" name="Text 17"/>
          <p:cNvSpPr/>
          <p:nvPr/>
        </p:nvSpPr>
        <p:spPr>
          <a:xfrm>
            <a:off x="3714512" y="516477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0.239</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0" name="Text 18"/>
          <p:cNvSpPr/>
          <p:nvPr/>
        </p:nvSpPr>
        <p:spPr>
          <a:xfrm>
            <a:off x="5214938" y="516477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0.048</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1" name="Text 19"/>
          <p:cNvSpPr/>
          <p:nvPr/>
        </p:nvSpPr>
        <p:spPr>
          <a:xfrm>
            <a:off x="6715363" y="516477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0.239</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2" name="Text 20"/>
          <p:cNvSpPr/>
          <p:nvPr/>
        </p:nvSpPr>
        <p:spPr>
          <a:xfrm>
            <a:off x="8215789" y="516477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0.000</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3" name="Text 21"/>
          <p:cNvSpPr/>
          <p:nvPr/>
        </p:nvSpPr>
        <p:spPr>
          <a:xfrm>
            <a:off x="9716214" y="516477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0.001</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4" name="Text 22"/>
          <p:cNvSpPr/>
          <p:nvPr/>
        </p:nvSpPr>
        <p:spPr>
          <a:xfrm>
            <a:off x="11216640" y="5164777"/>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1.2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5" name="Shape 23"/>
          <p:cNvSpPr/>
          <p:nvPr/>
        </p:nvSpPr>
        <p:spPr>
          <a:xfrm>
            <a:off x="2057400" y="5641504"/>
            <a:ext cx="10503456" cy="341948"/>
          </a:xfrm>
          <a:prstGeom prst="rect">
            <a:avLst/>
          </a:prstGeom>
          <a:solidFill>
            <a:srgbClr val="FFFFFF">
              <a:alpha val="4000"/>
            </a:srgbClr>
          </a:solidFill>
          <a:ln/>
        </p:spPr>
      </p:sp>
      <p:sp>
        <p:nvSpPr>
          <p:cNvPr id="26" name="Text 24"/>
          <p:cNvSpPr/>
          <p:nvPr/>
        </p:nvSpPr>
        <p:spPr>
          <a:xfrm>
            <a:off x="2210276" y="5710560"/>
            <a:ext cx="119181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CatBoost</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7" name="Text 25"/>
          <p:cNvSpPr/>
          <p:nvPr/>
        </p:nvSpPr>
        <p:spPr>
          <a:xfrm>
            <a:off x="3714512" y="5710560"/>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0.7025</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8" name="Text 26"/>
          <p:cNvSpPr/>
          <p:nvPr/>
        </p:nvSpPr>
        <p:spPr>
          <a:xfrm>
            <a:off x="5214938" y="5710560"/>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0.69</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29" name="Text 27"/>
          <p:cNvSpPr/>
          <p:nvPr/>
        </p:nvSpPr>
        <p:spPr>
          <a:xfrm>
            <a:off x="6715363" y="5710560"/>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0.701</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0" name="Text 28"/>
          <p:cNvSpPr/>
          <p:nvPr/>
        </p:nvSpPr>
        <p:spPr>
          <a:xfrm>
            <a:off x="8215789" y="5710560"/>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0.005</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1" name="Text 29"/>
          <p:cNvSpPr/>
          <p:nvPr/>
        </p:nvSpPr>
        <p:spPr>
          <a:xfrm>
            <a:off x="9716214" y="5710560"/>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18.5</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2" name="Text 30"/>
          <p:cNvSpPr/>
          <p:nvPr/>
        </p:nvSpPr>
        <p:spPr>
          <a:xfrm>
            <a:off x="11216640" y="5710560"/>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0.45</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3" name="Shape 31"/>
          <p:cNvSpPr/>
          <p:nvPr/>
        </p:nvSpPr>
        <p:spPr>
          <a:xfrm>
            <a:off x="2057400" y="5983451"/>
            <a:ext cx="10503456" cy="341948"/>
          </a:xfrm>
          <a:prstGeom prst="rect">
            <a:avLst/>
          </a:prstGeom>
          <a:solidFill>
            <a:srgbClr val="000000">
              <a:alpha val="4000"/>
            </a:srgbClr>
          </a:solidFill>
          <a:ln/>
        </p:spPr>
      </p:sp>
      <p:sp>
        <p:nvSpPr>
          <p:cNvPr id="34" name="Text 32"/>
          <p:cNvSpPr/>
          <p:nvPr/>
        </p:nvSpPr>
        <p:spPr>
          <a:xfrm>
            <a:off x="2210276" y="6052507"/>
            <a:ext cx="119181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LightGBM</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5" name="Text 33"/>
          <p:cNvSpPr/>
          <p:nvPr/>
        </p:nvSpPr>
        <p:spPr>
          <a:xfrm>
            <a:off x="3714512" y="605250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0.7500</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6" name="Text 34"/>
          <p:cNvSpPr/>
          <p:nvPr/>
        </p:nvSpPr>
        <p:spPr>
          <a:xfrm>
            <a:off x="5214938" y="605250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7" name="Text 35"/>
          <p:cNvSpPr/>
          <p:nvPr/>
        </p:nvSpPr>
        <p:spPr>
          <a:xfrm>
            <a:off x="6715363" y="605250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0.760</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8" name="Text 36"/>
          <p:cNvSpPr/>
          <p:nvPr/>
        </p:nvSpPr>
        <p:spPr>
          <a:xfrm>
            <a:off x="8215789" y="605250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0.004</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39" name="Text 37"/>
          <p:cNvSpPr/>
          <p:nvPr/>
        </p:nvSpPr>
        <p:spPr>
          <a:xfrm>
            <a:off x="9716214" y="605250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8.2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0" name="Text 38"/>
          <p:cNvSpPr/>
          <p:nvPr/>
        </p:nvSpPr>
        <p:spPr>
          <a:xfrm>
            <a:off x="11216640" y="6052507"/>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0.18</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1" name="Shape 39"/>
          <p:cNvSpPr/>
          <p:nvPr/>
        </p:nvSpPr>
        <p:spPr>
          <a:xfrm>
            <a:off x="2057400" y="6325399"/>
            <a:ext cx="10503456" cy="545783"/>
          </a:xfrm>
          <a:prstGeom prst="rect">
            <a:avLst/>
          </a:prstGeom>
          <a:solidFill>
            <a:srgbClr val="FFFFFF">
              <a:alpha val="4000"/>
            </a:srgbClr>
          </a:solidFill>
          <a:ln/>
        </p:spPr>
      </p:sp>
      <p:sp>
        <p:nvSpPr>
          <p:cNvPr id="42" name="Text 40"/>
          <p:cNvSpPr/>
          <p:nvPr/>
        </p:nvSpPr>
        <p:spPr>
          <a:xfrm>
            <a:off x="2210276" y="6394455"/>
            <a:ext cx="1191816" cy="407670"/>
          </a:xfrm>
          <a:prstGeom prst="rect">
            <a:avLst/>
          </a:prstGeom>
          <a:noFill/>
          <a:ln/>
        </p:spPr>
        <p:txBody>
          <a:bodyPr wrap="squar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Logistic Regression</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3" name="Text 41"/>
          <p:cNvSpPr/>
          <p:nvPr/>
        </p:nvSpPr>
        <p:spPr>
          <a:xfrm>
            <a:off x="3714512" y="639445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0.712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4" name="Text 42"/>
          <p:cNvSpPr/>
          <p:nvPr/>
        </p:nvSpPr>
        <p:spPr>
          <a:xfrm>
            <a:off x="5214938" y="639445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0.711</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5" name="Text 43"/>
          <p:cNvSpPr/>
          <p:nvPr/>
        </p:nvSpPr>
        <p:spPr>
          <a:xfrm>
            <a:off x="6715363" y="639445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0.708</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6" name="Text 44"/>
          <p:cNvSpPr/>
          <p:nvPr/>
        </p:nvSpPr>
        <p:spPr>
          <a:xfrm>
            <a:off x="8215789" y="639445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0.004</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7" name="Text 45"/>
          <p:cNvSpPr/>
          <p:nvPr/>
        </p:nvSpPr>
        <p:spPr>
          <a:xfrm>
            <a:off x="9716214" y="639445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0.8</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8" name="Text 46"/>
          <p:cNvSpPr/>
          <p:nvPr/>
        </p:nvSpPr>
        <p:spPr>
          <a:xfrm>
            <a:off x="11216640" y="6394455"/>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2.1</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49" name="Shape 47"/>
          <p:cNvSpPr/>
          <p:nvPr/>
        </p:nvSpPr>
        <p:spPr>
          <a:xfrm>
            <a:off x="2057400" y="6871181"/>
            <a:ext cx="10503456" cy="341948"/>
          </a:xfrm>
          <a:prstGeom prst="rect">
            <a:avLst/>
          </a:prstGeom>
          <a:solidFill>
            <a:srgbClr val="000000">
              <a:alpha val="4000"/>
            </a:srgbClr>
          </a:solidFill>
          <a:ln/>
        </p:spPr>
      </p:sp>
      <p:sp>
        <p:nvSpPr>
          <p:cNvPr id="50" name="Text 48"/>
          <p:cNvSpPr/>
          <p:nvPr/>
        </p:nvSpPr>
        <p:spPr>
          <a:xfrm>
            <a:off x="2210276" y="6940237"/>
            <a:ext cx="119181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Random Forest</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1" name="Text 49"/>
          <p:cNvSpPr/>
          <p:nvPr/>
        </p:nvSpPr>
        <p:spPr>
          <a:xfrm>
            <a:off x="3714512" y="694023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0.891</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2" name="Text 50"/>
          <p:cNvSpPr/>
          <p:nvPr/>
        </p:nvSpPr>
        <p:spPr>
          <a:xfrm>
            <a:off x="5214938" y="694023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0.940</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3" name="Text 51"/>
          <p:cNvSpPr/>
          <p:nvPr/>
        </p:nvSpPr>
        <p:spPr>
          <a:xfrm>
            <a:off x="6715363" y="694023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0.938</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4" name="Text 52"/>
          <p:cNvSpPr/>
          <p:nvPr/>
        </p:nvSpPr>
        <p:spPr>
          <a:xfrm>
            <a:off x="8215789" y="694023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0.003</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5" name="Text 53"/>
          <p:cNvSpPr/>
          <p:nvPr/>
        </p:nvSpPr>
        <p:spPr>
          <a:xfrm>
            <a:off x="9716214" y="694023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2.4</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6" name="Text 54"/>
          <p:cNvSpPr/>
          <p:nvPr/>
        </p:nvSpPr>
        <p:spPr>
          <a:xfrm>
            <a:off x="11216640" y="6940237"/>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18.6</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7" name="Shape 55"/>
          <p:cNvSpPr/>
          <p:nvPr/>
        </p:nvSpPr>
        <p:spPr>
          <a:xfrm>
            <a:off x="2057400" y="7213129"/>
            <a:ext cx="10503456" cy="545783"/>
          </a:xfrm>
          <a:prstGeom prst="rect">
            <a:avLst/>
          </a:prstGeom>
          <a:solidFill>
            <a:srgbClr val="FFFFFF">
              <a:alpha val="4000"/>
            </a:srgbClr>
          </a:solidFill>
          <a:ln/>
        </p:spPr>
      </p:sp>
      <p:sp>
        <p:nvSpPr>
          <p:cNvPr id="58" name="Text 56"/>
          <p:cNvSpPr/>
          <p:nvPr/>
        </p:nvSpPr>
        <p:spPr>
          <a:xfrm>
            <a:off x="2210276" y="7282185"/>
            <a:ext cx="1191816" cy="407670"/>
          </a:xfrm>
          <a:prstGeom prst="rect">
            <a:avLst/>
          </a:prstGeom>
          <a:noFill/>
          <a:ln/>
        </p:spPr>
        <p:txBody>
          <a:bodyPr wrap="squar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Neural Network(MLP)</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59" name="Text 57"/>
          <p:cNvSpPr/>
          <p:nvPr/>
        </p:nvSpPr>
        <p:spPr>
          <a:xfrm>
            <a:off x="3714512" y="728218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0.858</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0" name="Text 58"/>
          <p:cNvSpPr/>
          <p:nvPr/>
        </p:nvSpPr>
        <p:spPr>
          <a:xfrm>
            <a:off x="5214938" y="728218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0.917</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1" name="Text 59"/>
          <p:cNvSpPr/>
          <p:nvPr/>
        </p:nvSpPr>
        <p:spPr>
          <a:xfrm>
            <a:off x="6715363" y="728218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0.914</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2" name="Text 60"/>
          <p:cNvSpPr/>
          <p:nvPr/>
        </p:nvSpPr>
        <p:spPr>
          <a:xfrm>
            <a:off x="8215789" y="728218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0.005</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3" name="Text 61"/>
          <p:cNvSpPr/>
          <p:nvPr/>
        </p:nvSpPr>
        <p:spPr>
          <a:xfrm>
            <a:off x="9716214" y="7282185"/>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38.2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4" name="Text 62"/>
          <p:cNvSpPr/>
          <p:nvPr/>
        </p:nvSpPr>
        <p:spPr>
          <a:xfrm>
            <a:off x="11216640" y="7282185"/>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3.4</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5" name="Shape 63"/>
          <p:cNvSpPr/>
          <p:nvPr/>
        </p:nvSpPr>
        <p:spPr>
          <a:xfrm>
            <a:off x="2057400" y="7758911"/>
            <a:ext cx="10503456" cy="341948"/>
          </a:xfrm>
          <a:prstGeom prst="rect">
            <a:avLst/>
          </a:prstGeom>
          <a:solidFill>
            <a:srgbClr val="000000">
              <a:alpha val="4000"/>
            </a:srgbClr>
          </a:solidFill>
          <a:ln/>
        </p:spPr>
      </p:sp>
      <p:sp>
        <p:nvSpPr>
          <p:cNvPr id="66" name="Text 64"/>
          <p:cNvSpPr/>
          <p:nvPr/>
        </p:nvSpPr>
        <p:spPr>
          <a:xfrm>
            <a:off x="2210276" y="7827967"/>
            <a:ext cx="1191816" cy="203835"/>
          </a:xfrm>
          <a:prstGeom prst="rect">
            <a:avLst/>
          </a:prstGeom>
          <a:noFill/>
          <a:ln/>
        </p:spPr>
        <p:txBody>
          <a:bodyPr wrap="none" lIns="0" tIns="0" rIns="0" bIns="0" rtlCol="0" anchor="t"/>
          <a:lstStyle/>
          <a:p>
            <a:pPr marL="0" indent="0" algn="l">
              <a:lnSpc>
                <a:spcPts val="1600"/>
              </a:lnSpc>
              <a:buNone/>
            </a:pPr>
            <a:r>
              <a:rPr lang="en-US" sz="1200" b="1" dirty="0">
                <a:solidFill>
                  <a:srgbClr val="E5E0DF"/>
                </a:solidFill>
                <a:latin typeface="Roboto" panose="02000000000000000000" pitchFamily="2" charset="0"/>
                <a:ea typeface="Roboto" panose="02000000000000000000" pitchFamily="2" charset="0"/>
                <a:cs typeface="Roboto" panose="02000000000000000000" pitchFamily="2" charset="0"/>
              </a:rPr>
              <a:t>XGBoost (Best)</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7" name="Text 65"/>
          <p:cNvSpPr/>
          <p:nvPr/>
        </p:nvSpPr>
        <p:spPr>
          <a:xfrm>
            <a:off x="3714512" y="782796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0.913</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8" name="Text 66"/>
          <p:cNvSpPr/>
          <p:nvPr/>
        </p:nvSpPr>
        <p:spPr>
          <a:xfrm>
            <a:off x="5214938" y="782796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0.962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69" name="Text 67"/>
          <p:cNvSpPr/>
          <p:nvPr/>
        </p:nvSpPr>
        <p:spPr>
          <a:xfrm>
            <a:off x="6715363" y="782796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0.961</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70" name="Text 68"/>
          <p:cNvSpPr/>
          <p:nvPr/>
        </p:nvSpPr>
        <p:spPr>
          <a:xfrm>
            <a:off x="8215789" y="782796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0.02</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71" name="Text 69"/>
          <p:cNvSpPr/>
          <p:nvPr/>
        </p:nvSpPr>
        <p:spPr>
          <a:xfrm>
            <a:off x="9716214" y="7827967"/>
            <a:ext cx="118800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8.7</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72" name="Text 70"/>
          <p:cNvSpPr/>
          <p:nvPr/>
        </p:nvSpPr>
        <p:spPr>
          <a:xfrm>
            <a:off x="11216640" y="7827967"/>
            <a:ext cx="1191816" cy="203835"/>
          </a:xfrm>
          <a:prstGeom prst="rect">
            <a:avLst/>
          </a:prstGeom>
          <a:noFill/>
          <a:ln/>
        </p:spPr>
        <p:txBody>
          <a:bodyPr wrap="none" lIns="0" tIns="0" rIns="0" bIns="0" rtlCol="0" anchor="t"/>
          <a:lstStyle/>
          <a:p>
            <a:pPr marL="0" indent="0" algn="l">
              <a:lnSpc>
                <a:spcPts val="1600"/>
              </a:lnSpc>
              <a:buNone/>
            </a:pPr>
            <a:r>
              <a:rPr lang="en-US" sz="1200" dirty="0">
                <a:solidFill>
                  <a:srgbClr val="E5E0DF"/>
                </a:solidFill>
                <a:latin typeface="Roboto" panose="02000000000000000000" pitchFamily="2" charset="0"/>
                <a:ea typeface="Roboto" panose="02000000000000000000" pitchFamily="2" charset="0"/>
                <a:cs typeface="Roboto" panose="02000000000000000000" pitchFamily="2" charset="0"/>
              </a:rPr>
              <a:t>22.4</a:t>
            </a:r>
            <a:endParaRPr lang="en-US" sz="1200" dirty="0">
              <a:latin typeface="Roboto" panose="02000000000000000000" pitchFamily="2" charset="0"/>
              <a:ea typeface="Roboto" panose="02000000000000000000" pitchFamily="2" charset="0"/>
              <a:cs typeface="Roboto" panose="02000000000000000000" pitchFamily="2" charset="0"/>
            </a:endParaRPr>
          </a:p>
        </p:txBody>
      </p:sp>
      <p:sp>
        <p:nvSpPr>
          <p:cNvPr id="73" name="Text 71"/>
          <p:cNvSpPr/>
          <p:nvPr/>
        </p:nvSpPr>
        <p:spPr>
          <a:xfrm>
            <a:off x="2057400" y="7798614"/>
            <a:ext cx="10515600" cy="203835"/>
          </a:xfrm>
          <a:prstGeom prst="rect">
            <a:avLst/>
          </a:prstGeom>
          <a:noFill/>
          <a:ln/>
        </p:spPr>
        <p:txBody>
          <a:bodyPr wrap="none" lIns="0" tIns="0" rIns="0" bIns="0" rtlCol="0" anchor="t"/>
          <a:lstStyle/>
          <a:p>
            <a:pPr marL="0" indent="0" algn="l">
              <a:lnSpc>
                <a:spcPts val="1600"/>
              </a:lnSpc>
              <a:buNone/>
            </a:pPr>
            <a:endParaRPr lang="en-US" sz="12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3871" y="524080"/>
            <a:ext cx="13042821" cy="362903"/>
          </a:xfrm>
          <a:prstGeom prst="rect">
            <a:avLst/>
          </a:prstGeom>
          <a:noFill/>
          <a:ln/>
        </p:spPr>
        <p:txBody>
          <a:bodyPr wrap="none" lIns="0" tIns="0" rIns="0" bIns="0" rtlCol="0" anchor="t"/>
          <a:lstStyle/>
          <a:p>
            <a:pPr marL="0" indent="0" algn="l">
              <a:lnSpc>
                <a:spcPts val="2850"/>
              </a:lnSpc>
              <a:buNone/>
            </a:pPr>
            <a:r>
              <a:rPr lang="en-US" sz="3200" b="1" dirty="0">
                <a:solidFill>
                  <a:srgbClr val="E5E0DF"/>
                </a:solidFill>
                <a:latin typeface="Roboto" panose="02000000000000000000" pitchFamily="2" charset="0"/>
                <a:ea typeface="Roboto" panose="02000000000000000000" pitchFamily="2" charset="0"/>
                <a:cs typeface="Roboto" panose="02000000000000000000" pitchFamily="2" charset="0"/>
              </a:rPr>
              <a:t>Critical Limitations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3" name="Text 1"/>
          <p:cNvSpPr/>
          <p:nvPr/>
        </p:nvSpPr>
        <p:spPr>
          <a:xfrm>
            <a:off x="793789" y="1122310"/>
            <a:ext cx="13042821" cy="1168003"/>
          </a:xfrm>
          <a:prstGeom prst="rect">
            <a:avLst/>
          </a:prstGeom>
          <a:noFill/>
          <a:ln/>
        </p:spPr>
        <p:txBody>
          <a:bodyPr wrap="square" lIns="0" tIns="0" rIns="0" bIns="0" rtlCol="0" anchor="t"/>
          <a:lstStyle/>
          <a:p>
            <a:pPr marL="342900" indent="-342900" algn="l">
              <a:lnSpc>
                <a:spcPts val="2850"/>
              </a:lnSpc>
              <a:buSzPct val="100000"/>
              <a:buChar char="•"/>
            </a:pPr>
            <a:r>
              <a:rPr lang="en-US" sz="2400" b="1" dirty="0">
                <a:solidFill>
                  <a:srgbClr val="E5E0DF"/>
                </a:solidFill>
                <a:latin typeface="Roboto" panose="02000000000000000000" pitchFamily="2" charset="0"/>
                <a:ea typeface="Roboto" panose="02000000000000000000" pitchFamily="2" charset="0"/>
                <a:cs typeface="Roboto" panose="02000000000000000000" pitchFamily="2" charset="0"/>
              </a:rPr>
              <a:t>Synthetic Nature:</a:t>
            </a: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 As the data is semi-synthetic, the primary limitation is the lack of "wild" network noise.</a:t>
            </a:r>
            <a:endParaRPr lang="en-US" sz="2400" dirty="0">
              <a:latin typeface="Roboto" panose="02000000000000000000" pitchFamily="2" charset="0"/>
              <a:ea typeface="Roboto" panose="02000000000000000000" pitchFamily="2" charset="0"/>
              <a:cs typeface="Roboto" panose="02000000000000000000" pitchFamily="2" charset="0"/>
            </a:endParaRPr>
          </a:p>
          <a:p>
            <a:pPr marL="342900" indent="-342900" algn="l">
              <a:lnSpc>
                <a:spcPts val="2850"/>
              </a:lnSpc>
              <a:buSzPct val="100000"/>
              <a:buChar char="•"/>
            </a:pPr>
            <a:r>
              <a:rPr lang="en-US" sz="2400" b="1" dirty="0">
                <a:solidFill>
                  <a:srgbClr val="E5E0DF"/>
                </a:solidFill>
                <a:latin typeface="Roboto" panose="02000000000000000000" pitchFamily="2" charset="0"/>
                <a:ea typeface="Roboto" panose="02000000000000000000" pitchFamily="2" charset="0"/>
                <a:cs typeface="Roboto" panose="02000000000000000000" pitchFamily="2" charset="0"/>
              </a:rPr>
              <a:t>Next Steps:</a:t>
            </a: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 Future validation requires testing against production traffic via real-world telemetry APIs (e.g., iperf3) to confirm if these decision boundaries hold under unpredictable real-world jitter.</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4" name="Text 2"/>
          <p:cNvSpPr/>
          <p:nvPr/>
        </p:nvSpPr>
        <p:spPr>
          <a:xfrm>
            <a:off x="793788" y="3583159"/>
            <a:ext cx="13042821" cy="362903"/>
          </a:xfrm>
          <a:prstGeom prst="rect">
            <a:avLst/>
          </a:prstGeom>
          <a:noFill/>
          <a:ln/>
        </p:spPr>
        <p:txBody>
          <a:bodyPr wrap="none" lIns="0" tIns="0" rIns="0" bIns="0" rtlCol="0" anchor="t"/>
          <a:lstStyle/>
          <a:p>
            <a:pPr marL="0" indent="0" algn="l">
              <a:lnSpc>
                <a:spcPts val="2850"/>
              </a:lnSpc>
              <a:buNone/>
            </a:pPr>
            <a:r>
              <a:rPr lang="en-US" sz="3200" b="1" dirty="0">
                <a:solidFill>
                  <a:srgbClr val="E5E0DF"/>
                </a:solidFill>
                <a:latin typeface="Roboto" panose="02000000000000000000" pitchFamily="2" charset="0"/>
                <a:ea typeface="Roboto" panose="02000000000000000000" pitchFamily="2" charset="0"/>
                <a:cs typeface="Roboto" panose="02000000000000000000" pitchFamily="2" charset="0"/>
              </a:rPr>
              <a:t>Project Conclusions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5" name="Text 3"/>
          <p:cNvSpPr/>
          <p:nvPr/>
        </p:nvSpPr>
        <p:spPr>
          <a:xfrm>
            <a:off x="666469" y="4176552"/>
            <a:ext cx="13042821" cy="1168003"/>
          </a:xfrm>
          <a:prstGeom prst="rect">
            <a:avLst/>
          </a:prstGeom>
          <a:noFill/>
          <a:ln/>
        </p:spPr>
        <p:txBody>
          <a:bodyPr wrap="square" lIns="0" tIns="0" rIns="0" bIns="0" rtlCol="0" anchor="t"/>
          <a:lstStyle/>
          <a:p>
            <a:pPr marL="342900" indent="-342900" algn="l">
              <a:lnSpc>
                <a:spcPts val="2850"/>
              </a:lnSpc>
              <a:buSzPct val="100000"/>
              <a:buChar char="•"/>
            </a:pPr>
            <a:r>
              <a:rPr lang="en-US" sz="2400" b="1" dirty="0">
                <a:solidFill>
                  <a:srgbClr val="E5E0DF"/>
                </a:solidFill>
                <a:latin typeface="Roboto" panose="02000000000000000000" pitchFamily="2" charset="0"/>
                <a:ea typeface="Roboto" panose="02000000000000000000" pitchFamily="2" charset="0"/>
                <a:cs typeface="Roboto" panose="02000000000000000000" pitchFamily="2" charset="0"/>
              </a:rPr>
              <a:t>High-Fidelity Training:</a:t>
            </a: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 Our 50,000-row dataset provided sufficient depth for XGBoost to achieve 96.3% accuracy.</a:t>
            </a:r>
            <a:endParaRPr lang="en-US" sz="2400" dirty="0">
              <a:latin typeface="Roboto" panose="02000000000000000000" pitchFamily="2" charset="0"/>
              <a:ea typeface="Roboto" panose="02000000000000000000" pitchFamily="2" charset="0"/>
              <a:cs typeface="Roboto" panose="02000000000000000000" pitchFamily="2" charset="0"/>
            </a:endParaRPr>
          </a:p>
          <a:p>
            <a:pPr marL="342900" indent="-342900" algn="l">
              <a:lnSpc>
                <a:spcPts val="2850"/>
              </a:lnSpc>
              <a:buSzPct val="100000"/>
              <a:buChar char="•"/>
            </a:pPr>
            <a:r>
              <a:rPr lang="en-US" sz="2400" b="1" dirty="0">
                <a:solidFill>
                  <a:srgbClr val="E5E0DF"/>
                </a:solidFill>
                <a:latin typeface="Roboto" panose="02000000000000000000" pitchFamily="2" charset="0"/>
                <a:ea typeface="Roboto" panose="02000000000000000000" pitchFamily="2" charset="0"/>
                <a:cs typeface="Roboto" panose="02000000000000000000" pitchFamily="2" charset="0"/>
              </a:rPr>
              <a:t>The Routing Signal:</a:t>
            </a:r>
            <a:r>
              <a:rPr lang="en-US" sz="2400" dirty="0">
                <a:solidFill>
                  <a:srgbClr val="E5E0DF"/>
                </a:solidFill>
                <a:latin typeface="Roboto" panose="02000000000000000000" pitchFamily="2" charset="0"/>
                <a:ea typeface="Roboto" panose="02000000000000000000" pitchFamily="2" charset="0"/>
                <a:cs typeface="Roboto" panose="02000000000000000000" pitchFamily="2" charset="0"/>
              </a:rPr>
              <a:t> While geography is the anchor, feature engineering (Network Load and Effective Bandwidth) provided the critical "intelligence" layer for optimal routing.</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6" name="Text 4"/>
          <p:cNvSpPr/>
          <p:nvPr/>
        </p:nvSpPr>
        <p:spPr>
          <a:xfrm>
            <a:off x="6002397" y="6983789"/>
            <a:ext cx="5670590" cy="708779"/>
          </a:xfrm>
          <a:prstGeom prst="rect">
            <a:avLst/>
          </a:prstGeom>
          <a:noFill/>
          <a:ln/>
        </p:spPr>
        <p:txBody>
          <a:bodyPr wrap="none" lIns="0" tIns="0" rIns="0" bIns="0" rtlCol="0" anchor="t"/>
          <a:lstStyle/>
          <a:p>
            <a:pPr marL="0" indent="0" algn="l">
              <a:lnSpc>
                <a:spcPts val="5550"/>
              </a:lnSpc>
              <a:buNone/>
            </a:pPr>
            <a:r>
              <a:rPr lang="en-US" sz="11500" dirty="0">
                <a:solidFill>
                  <a:srgbClr val="F2F2F3"/>
                </a:solidFill>
                <a:latin typeface="Roboto" panose="02000000000000000000" pitchFamily="2" charset="0"/>
                <a:ea typeface="Roboto" panose="02000000000000000000" pitchFamily="2" charset="0"/>
                <a:cs typeface="Roboto" panose="02000000000000000000" pitchFamily="2" charset="0"/>
              </a:rPr>
              <a:t>THANK YOU.</a:t>
            </a:r>
            <a:endParaRPr lang="en-US" sz="11500" dirty="0">
              <a:latin typeface="Roboto" panose="02000000000000000000" pitchFamily="2" charset="0"/>
              <a:ea typeface="Roboto" panose="02000000000000000000" pitchFamily="2" charset="0"/>
              <a:cs typeface="Roboto" panose="02000000000000000000" pitchFamily="2" charset="0"/>
            </a:endParaRPr>
          </a:p>
        </p:txBody>
      </p:sp>
      <p:pic>
        <p:nvPicPr>
          <p:cNvPr id="8" name="Picture 7">
            <a:extLst>
              <a:ext uri="{FF2B5EF4-FFF2-40B4-BE49-F238E27FC236}">
                <a16:creationId xmlns:a16="http://schemas.microsoft.com/office/drawing/2014/main" id="{DE421743-6DD3-9EE0-2FC2-D345A754F4DD}"/>
              </a:ext>
            </a:extLst>
          </p:cNvPr>
          <p:cNvPicPr>
            <a:picLocks noChangeAspect="1"/>
          </p:cNvPicPr>
          <p:nvPr/>
        </p:nvPicPr>
        <p:blipFill>
          <a:blip r:embed="rId3"/>
          <a:stretch>
            <a:fillRect/>
          </a:stretch>
        </p:blipFill>
        <p:spPr>
          <a:xfrm>
            <a:off x="1472662" y="5579882"/>
            <a:ext cx="2537680" cy="24538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857</TotalTime>
  <Words>2035</Words>
  <Application>Microsoft Office PowerPoint</Application>
  <PresentationFormat>Custom</PresentationFormat>
  <Paragraphs>194</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Roboto Light</vt:lpstr>
      <vt:lpstr>Calibri Light</vt:lpstr>
      <vt:lpstr>Roboto</vt:lpstr>
      <vt:lpstr>Poppins Light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dc:creator>
  <cp:lastModifiedBy>SAI SHREYAS G H</cp:lastModifiedBy>
  <cp:revision>20</cp:revision>
  <dcterms:created xsi:type="dcterms:W3CDTF">2026-04-11T22:52:33Z</dcterms:created>
  <dcterms:modified xsi:type="dcterms:W3CDTF">2026-04-13T07:37:37Z</dcterms:modified>
</cp:coreProperties>
</file>